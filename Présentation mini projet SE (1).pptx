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3" r:id="rId15"/>
    <p:sldId id="266" r:id="rId16"/>
    <p:sldId id="274" r:id="rId17"/>
    <p:sldId id="275" r:id="rId18"/>
    <p:sldId id="267" r:id="rId19"/>
    <p:sldId id="268" r:id="rId20"/>
    <p:sldId id="277" r:id="rId21"/>
    <p:sldId id="278" r:id="rId22"/>
    <p:sldId id="279" r:id="rId23"/>
    <p:sldId id="269" r:id="rId24"/>
    <p:sldId id="270" r:id="rId25"/>
    <p:sldId id="271" r:id="rId26"/>
    <p:sldId id="272" r:id="rId2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67021276595745"/>
          <c:y val="0.012528636884307"/>
          <c:w val="0.880791962174941"/>
          <c:h val="0.7591280068728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Attente moy. (ticks)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fr-FR" sz="1200" b="0" i="0" u="none" strike="noStrike" kern="1200" baseline="0">
                    <a:solidFill>
                      <a:srgbClr val="0B1535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FIFO</c:v>
                </c:pt>
                <c:pt idx="1">
                  <c:v>SJF</c:v>
                </c:pt>
                <c:pt idx="2">
                  <c:v>Round Robin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</c:v>
                </c:pt>
                <c:pt idx="1">
                  <c:v>2</c:v>
                </c:pt>
                <c:pt idx="2">
                  <c:v>3.8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Retour moy. (ticks)</c:v>
                </c:pt>
              </c:strCache>
            </c:strRef>
          </c:tx>
          <c:spPr>
            <a:solidFill>
              <a:srgbClr val="1A7FA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fr-FR" sz="1200" b="0" i="0" u="none" strike="noStrike" kern="1200" baseline="0">
                    <a:solidFill>
                      <a:srgbClr val="0B1535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FIFO</c:v>
                </c:pt>
                <c:pt idx="1">
                  <c:v>SJF</c:v>
                </c:pt>
                <c:pt idx="2">
                  <c:v>Round Robin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10.3</c:v>
                </c:pt>
                <c:pt idx="1">
                  <c:v>7.8</c:v>
                </c:pt>
                <c:pt idx="2">
                  <c:v>9.5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fr-FR" sz="1200" b="0" i="0" u="none" strike="noStrike" kern="1200" baseline="0">
                <a:solidFill>
                  <a:srgbClr val="0B153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0D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fr-FR" sz="1200" b="0" i="0" u="none" strike="noStrike" kern="1200" baseline="0">
                <a:solidFill>
                  <a:srgbClr val="0B153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5916075650118"/>
          <c:y val="0.880441008018328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fr-FR" sz="1000" b="0" i="0" u="none" strike="noStrike" kern="1200" baseline="0">
              <a:solidFill>
                <a:srgbClr val="0B1535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a09f1671-4f5b-4686-9c22-28a96c7bc68f}"/>
      </c:ext>
    </c:extLst>
  </c:chart>
  <c:spPr>
    <a:solidFill>
      <a:srgbClr val="EEF2FA"/>
    </a:solidFill>
    <a:ln>
      <a:noFill/>
    </a:ln>
    <a:effectLst/>
  </c:spPr>
  <c:txPr>
    <a:bodyPr/>
    <a:lstStyle/>
    <a:p>
      <a:pPr>
        <a:defRPr lang="fr-FR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png"/><Relationship Id="rId1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6" name="Shape 4"/>
          <p:cNvSpPr/>
          <p:nvPr/>
        </p:nvSpPr>
        <p:spPr>
          <a:xfrm>
            <a:off x="54864" y="54864"/>
            <a:ext cx="164592" cy="5033772"/>
          </a:xfrm>
          <a:prstGeom prst="rect">
            <a:avLst/>
          </a:prstGeom>
          <a:solidFill>
            <a:srgbClr val="0B1535"/>
          </a:solidFill>
        </p:spPr>
      </p:sp>
      <p:sp>
        <p:nvSpPr>
          <p:cNvPr id="7" name="Shape 5"/>
          <p:cNvSpPr/>
          <p:nvPr/>
        </p:nvSpPr>
        <p:spPr>
          <a:xfrm>
            <a:off x="7315200" y="54864"/>
            <a:ext cx="1719072" cy="146304"/>
          </a:xfrm>
          <a:prstGeom prst="rect">
            <a:avLst/>
          </a:prstGeom>
          <a:solidFill>
            <a:srgbClr val="C9A84C">
              <a:alpha val="4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8887968" y="54864"/>
            <a:ext cx="146304" cy="1371600"/>
          </a:xfrm>
          <a:prstGeom prst="rect">
            <a:avLst/>
          </a:prstGeom>
          <a:solidFill>
            <a:srgbClr val="C9A84C">
              <a:alpha val="45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219456" y="3749040"/>
            <a:ext cx="1371600" cy="146304"/>
          </a:xfrm>
          <a:prstGeom prst="rect">
            <a:avLst/>
          </a:prstGeom>
          <a:solidFill>
            <a:srgbClr val="C9A84C">
              <a:alpha val="45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219456" y="3895344"/>
            <a:ext cx="146304" cy="1133856"/>
          </a:xfrm>
          <a:prstGeom prst="rect">
            <a:avLst/>
          </a:prstGeom>
          <a:solidFill>
            <a:srgbClr val="C9A84C">
              <a:alpha val="45000"/>
            </a:srgbClr>
          </a:solidFill>
        </p:spPr>
      </p:sp>
      <p:sp>
        <p:nvSpPr>
          <p:cNvPr id="12" name="Shape 9"/>
          <p:cNvSpPr/>
          <p:nvPr/>
        </p:nvSpPr>
        <p:spPr>
          <a:xfrm>
            <a:off x="6126480" y="1005840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6419088" y="1005840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6711696" y="1005840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15" name="Shape 12"/>
          <p:cNvSpPr/>
          <p:nvPr/>
        </p:nvSpPr>
        <p:spPr>
          <a:xfrm>
            <a:off x="7004304" y="1005840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7296912" y="1005840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17" name="Shape 14"/>
          <p:cNvSpPr/>
          <p:nvPr/>
        </p:nvSpPr>
        <p:spPr>
          <a:xfrm>
            <a:off x="7589520" y="1005840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7882128" y="1005840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19" name="Shape 16"/>
          <p:cNvSpPr/>
          <p:nvPr/>
        </p:nvSpPr>
        <p:spPr>
          <a:xfrm>
            <a:off x="6126480" y="1298448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20" name="Shape 17"/>
          <p:cNvSpPr/>
          <p:nvPr/>
        </p:nvSpPr>
        <p:spPr>
          <a:xfrm>
            <a:off x="6419088" y="1298448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6711696" y="1298448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22" name="Shape 19"/>
          <p:cNvSpPr/>
          <p:nvPr/>
        </p:nvSpPr>
        <p:spPr>
          <a:xfrm>
            <a:off x="7004304" y="1298448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7296912" y="1298448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7589520" y="1298448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25" name="Shape 22"/>
          <p:cNvSpPr/>
          <p:nvPr/>
        </p:nvSpPr>
        <p:spPr>
          <a:xfrm>
            <a:off x="7882128" y="1298448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26" name="Shape 23"/>
          <p:cNvSpPr/>
          <p:nvPr/>
        </p:nvSpPr>
        <p:spPr>
          <a:xfrm>
            <a:off x="6126480" y="1591056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27" name="Shape 24"/>
          <p:cNvSpPr/>
          <p:nvPr/>
        </p:nvSpPr>
        <p:spPr>
          <a:xfrm>
            <a:off x="6419088" y="1591056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28" name="Shape 25"/>
          <p:cNvSpPr/>
          <p:nvPr/>
        </p:nvSpPr>
        <p:spPr>
          <a:xfrm>
            <a:off x="6711696" y="1591056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29" name="Shape 26"/>
          <p:cNvSpPr/>
          <p:nvPr/>
        </p:nvSpPr>
        <p:spPr>
          <a:xfrm>
            <a:off x="7004304" y="1591056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30" name="Shape 27"/>
          <p:cNvSpPr/>
          <p:nvPr/>
        </p:nvSpPr>
        <p:spPr>
          <a:xfrm>
            <a:off x="7296912" y="1591056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31" name="Shape 28"/>
          <p:cNvSpPr/>
          <p:nvPr/>
        </p:nvSpPr>
        <p:spPr>
          <a:xfrm>
            <a:off x="7589520" y="1591056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32" name="Shape 29"/>
          <p:cNvSpPr/>
          <p:nvPr/>
        </p:nvSpPr>
        <p:spPr>
          <a:xfrm>
            <a:off x="7882128" y="1591056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33" name="Shape 30"/>
          <p:cNvSpPr/>
          <p:nvPr/>
        </p:nvSpPr>
        <p:spPr>
          <a:xfrm>
            <a:off x="6126480" y="1883664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34" name="Shape 31"/>
          <p:cNvSpPr/>
          <p:nvPr/>
        </p:nvSpPr>
        <p:spPr>
          <a:xfrm>
            <a:off x="6419088" y="1883664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35" name="Shape 32"/>
          <p:cNvSpPr/>
          <p:nvPr/>
        </p:nvSpPr>
        <p:spPr>
          <a:xfrm>
            <a:off x="6711696" y="1883664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36" name="Shape 33"/>
          <p:cNvSpPr/>
          <p:nvPr/>
        </p:nvSpPr>
        <p:spPr>
          <a:xfrm>
            <a:off x="7004304" y="1883664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37" name="Shape 34"/>
          <p:cNvSpPr/>
          <p:nvPr/>
        </p:nvSpPr>
        <p:spPr>
          <a:xfrm>
            <a:off x="7296912" y="1883664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38" name="Shape 35"/>
          <p:cNvSpPr/>
          <p:nvPr/>
        </p:nvSpPr>
        <p:spPr>
          <a:xfrm>
            <a:off x="7589520" y="1883664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39" name="Shape 36"/>
          <p:cNvSpPr/>
          <p:nvPr/>
        </p:nvSpPr>
        <p:spPr>
          <a:xfrm>
            <a:off x="7882128" y="1883664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40" name="Shape 37"/>
          <p:cNvSpPr/>
          <p:nvPr/>
        </p:nvSpPr>
        <p:spPr>
          <a:xfrm>
            <a:off x="6126480" y="2176272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41" name="Shape 38"/>
          <p:cNvSpPr/>
          <p:nvPr/>
        </p:nvSpPr>
        <p:spPr>
          <a:xfrm>
            <a:off x="6419088" y="2176272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42" name="Shape 39"/>
          <p:cNvSpPr/>
          <p:nvPr/>
        </p:nvSpPr>
        <p:spPr>
          <a:xfrm>
            <a:off x="6711696" y="2176272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43" name="Shape 40"/>
          <p:cNvSpPr/>
          <p:nvPr/>
        </p:nvSpPr>
        <p:spPr>
          <a:xfrm>
            <a:off x="7004304" y="2176272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44" name="Shape 41"/>
          <p:cNvSpPr/>
          <p:nvPr/>
        </p:nvSpPr>
        <p:spPr>
          <a:xfrm>
            <a:off x="7296912" y="2176272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45" name="Shape 42"/>
          <p:cNvSpPr/>
          <p:nvPr/>
        </p:nvSpPr>
        <p:spPr>
          <a:xfrm>
            <a:off x="7589520" y="2176272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46" name="Shape 43"/>
          <p:cNvSpPr/>
          <p:nvPr/>
        </p:nvSpPr>
        <p:spPr>
          <a:xfrm>
            <a:off x="7882128" y="2176272"/>
            <a:ext cx="64008" cy="64008"/>
          </a:xfrm>
          <a:prstGeom prst="ellipse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47" name="Shape 44"/>
          <p:cNvSpPr/>
          <p:nvPr/>
        </p:nvSpPr>
        <p:spPr>
          <a:xfrm>
            <a:off x="530352" y="201168"/>
            <a:ext cx="3200400" cy="420624"/>
          </a:xfrm>
          <a:prstGeom prst="rect">
            <a:avLst/>
          </a:prstGeom>
          <a:solidFill>
            <a:srgbClr val="122047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530352" y="201168"/>
            <a:ext cx="54864" cy="420624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9" name="Text 46"/>
          <p:cNvSpPr/>
          <p:nvPr/>
        </p:nvSpPr>
        <p:spPr>
          <a:xfrm>
            <a:off x="640080" y="201295"/>
            <a:ext cx="6650355" cy="4203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UNIVERSITÉ HASSAN II DE CASABLANCA  ·  ENSEM  ·  GLD-1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530352" y="960120"/>
            <a:ext cx="8046720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Conception de</a:t>
            </a:r>
            <a:endParaRPr lang="en-US" sz="4600" dirty="0"/>
          </a:p>
        </p:txBody>
      </p:sp>
      <p:sp>
        <p:nvSpPr>
          <p:cNvPr id="51" name="Text 48"/>
          <p:cNvSpPr/>
          <p:nvPr/>
        </p:nvSpPr>
        <p:spPr>
          <a:xfrm>
            <a:off x="530352" y="1618488"/>
            <a:ext cx="804672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Systèmes d'Exploitation</a:t>
            </a:r>
            <a:endParaRPr lang="en-US" sz="4600" dirty="0"/>
          </a:p>
        </p:txBody>
      </p:sp>
      <p:sp>
        <p:nvSpPr>
          <p:cNvPr id="52" name="Shape 49"/>
          <p:cNvSpPr/>
          <p:nvPr/>
        </p:nvSpPr>
        <p:spPr>
          <a:xfrm>
            <a:off x="530352" y="2523744"/>
            <a:ext cx="18288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3" name="Shape 50"/>
          <p:cNvSpPr/>
          <p:nvPr/>
        </p:nvSpPr>
        <p:spPr>
          <a:xfrm>
            <a:off x="2395728" y="2523744"/>
            <a:ext cx="50292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4" name="Text 51"/>
          <p:cNvSpPr/>
          <p:nvPr/>
        </p:nvSpPr>
        <p:spPr>
          <a:xfrm>
            <a:off x="530352" y="2633472"/>
            <a:ext cx="7315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 Projet — Systèmes d'Exploitation  |  Année académique 2025–2026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530352" y="3218688"/>
            <a:ext cx="3931920" cy="804672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530352" y="3218688"/>
            <a:ext cx="64008" cy="80467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7" name="Text 54"/>
          <p:cNvSpPr/>
          <p:nvPr/>
        </p:nvSpPr>
        <p:spPr>
          <a:xfrm>
            <a:off x="713232" y="3264408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Réalisé par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713232" y="3502152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Manar BOUAMAR  &amp;  Amine ANDAME</a:t>
            </a:r>
            <a:endParaRPr lang="en-US" sz="1200" dirty="0"/>
          </a:p>
        </p:txBody>
      </p:sp>
      <p:sp>
        <p:nvSpPr>
          <p:cNvPr id="59" name="Shape 56"/>
          <p:cNvSpPr/>
          <p:nvPr/>
        </p:nvSpPr>
        <p:spPr>
          <a:xfrm>
            <a:off x="4828032" y="3218688"/>
            <a:ext cx="3931920" cy="804672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4828032" y="3218688"/>
            <a:ext cx="64008" cy="80467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61" name="Text 58"/>
          <p:cNvSpPr/>
          <p:nvPr/>
        </p:nvSpPr>
        <p:spPr>
          <a:xfrm>
            <a:off x="5010912" y="3264408"/>
            <a:ext cx="3566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Encadré par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5010912" y="3502152"/>
            <a:ext cx="3566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M. Khalid BOUKDIR</a:t>
            </a:r>
            <a:endParaRPr lang="en-US" sz="1200" dirty="0"/>
          </a:p>
        </p:txBody>
      </p:sp>
      <p:sp>
        <p:nvSpPr>
          <p:cNvPr id="63" name="Shape 60"/>
          <p:cNvSpPr/>
          <p:nvPr/>
        </p:nvSpPr>
        <p:spPr>
          <a:xfrm>
            <a:off x="530352" y="4251960"/>
            <a:ext cx="3931920" cy="512064"/>
          </a:xfrm>
          <a:prstGeom prst="rect">
            <a:avLst/>
          </a:prstGeom>
          <a:solidFill>
            <a:srgbClr val="122047"/>
          </a:solidFill>
          <a:ln w="12700">
            <a:solidFill>
              <a:srgbClr val="C9A84C"/>
            </a:solidFill>
            <a:prstDash val="solid"/>
          </a:ln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64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43400"/>
            <a:ext cx="292608" cy="292608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1042416" y="4251960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1 : Ordonnanceur CPU</a:t>
            </a:r>
            <a:endParaRPr lang="en-US" sz="1150" dirty="0"/>
          </a:p>
        </p:txBody>
      </p:sp>
      <p:sp>
        <p:nvSpPr>
          <p:cNvPr id="66" name="Shape 62"/>
          <p:cNvSpPr/>
          <p:nvPr/>
        </p:nvSpPr>
        <p:spPr>
          <a:xfrm>
            <a:off x="4828032" y="4251960"/>
            <a:ext cx="3931920" cy="512064"/>
          </a:xfrm>
          <a:prstGeom prst="rect">
            <a:avLst/>
          </a:prstGeom>
          <a:solidFill>
            <a:srgbClr val="122047"/>
          </a:solidFill>
          <a:ln w="12700">
            <a:solidFill>
              <a:srgbClr val="C9A84C"/>
            </a:solidFill>
            <a:prstDash val="solid"/>
          </a:ln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67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4343400"/>
            <a:ext cx="292608" cy="292608"/>
          </a:xfrm>
          <a:prstGeom prst="rect">
            <a:avLst/>
          </a:prstGeom>
        </p:spPr>
      </p:pic>
      <p:sp>
        <p:nvSpPr>
          <p:cNvPr id="68" name="Text 63"/>
          <p:cNvSpPr/>
          <p:nvPr/>
        </p:nvSpPr>
        <p:spPr>
          <a:xfrm>
            <a:off x="5340096" y="4251960"/>
            <a:ext cx="3291840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2 : Entrepôt Intelligent</a:t>
            </a:r>
            <a:endParaRPr lang="en-US" sz="1150" dirty="0"/>
          </a:p>
        </p:txBody>
      </p:sp>
      <p:pic>
        <p:nvPicPr>
          <p:cNvPr id="901" name="LogoENSE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16" y="54600"/>
            <a:ext cx="1371600" cy="560157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  <a:softEdge rad="31750"/>
          </a:effectLst>
        </p:spPr>
      </p:pic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1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Shape 1"/>
          <p:cNvSpPr/>
          <p:nvPr/>
        </p:nvSpPr>
        <p:spPr>
          <a:xfrm>
            <a:off x="0" y="50292"/>
            <a:ext cx="173736" cy="509320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173736" y="0"/>
            <a:ext cx="8970264" cy="1097280"/>
          </a:xfrm>
          <a:prstGeom prst="rect">
            <a:avLst/>
          </a:prstGeom>
          <a:solidFill>
            <a:srgbClr val="0B1535"/>
          </a:solidFill>
        </p:spPr>
      </p:sp>
      <p:sp>
        <p:nvSpPr>
          <p:cNvPr id="5" name="Text 3"/>
          <p:cNvSpPr/>
          <p:nvPr/>
        </p:nvSpPr>
        <p:spPr>
          <a:xfrm>
            <a:off x="411480" y="73152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DE LA PRÉSENTATION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411480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Sommaire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987552"/>
            <a:ext cx="128016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8" name="Shape 6"/>
          <p:cNvSpPr/>
          <p:nvPr/>
        </p:nvSpPr>
        <p:spPr>
          <a:xfrm>
            <a:off x="347472" y="1298448"/>
            <a:ext cx="4187952" cy="987552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" y="1298448"/>
            <a:ext cx="64008" cy="98755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0" name="Text 8"/>
          <p:cNvSpPr/>
          <p:nvPr/>
        </p:nvSpPr>
        <p:spPr>
          <a:xfrm>
            <a:off x="530352" y="137160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52144" y="1353312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Contexte &amp; Objectifs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52144" y="1773936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Présentation du module et des objectifs pédagogiques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298448"/>
            <a:ext cx="4187952" cy="987552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298448"/>
            <a:ext cx="64008" cy="98755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5" name="Text 13"/>
          <p:cNvSpPr/>
          <p:nvPr/>
        </p:nvSpPr>
        <p:spPr>
          <a:xfrm>
            <a:off x="4937760" y="1371600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559552" y="1353312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Générale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559552" y="1773936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 du projet et organisation des fichiers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468880"/>
            <a:ext cx="4187952" cy="987552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2468880"/>
            <a:ext cx="64008" cy="987552"/>
          </a:xfrm>
          <a:prstGeom prst="rect">
            <a:avLst/>
          </a:prstGeom>
          <a:solidFill>
            <a:srgbClr val="1A7FAF"/>
          </a:solidFill>
        </p:spPr>
      </p:sp>
      <p:sp>
        <p:nvSpPr>
          <p:cNvPr id="20" name="Text 18"/>
          <p:cNvSpPr/>
          <p:nvPr/>
        </p:nvSpPr>
        <p:spPr>
          <a:xfrm>
            <a:off x="530352" y="2542032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152144" y="2523744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Ordonnanceur de Processus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52144" y="2944368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FIFO · SJF · Round Robin — Simulation tick par tick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468880"/>
            <a:ext cx="4187952" cy="987552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468880"/>
            <a:ext cx="64008" cy="987552"/>
          </a:xfrm>
          <a:prstGeom prst="rect">
            <a:avLst/>
          </a:prstGeom>
          <a:solidFill>
            <a:srgbClr val="1A7FAF"/>
          </a:solidFill>
        </p:spPr>
      </p:sp>
      <p:sp>
        <p:nvSpPr>
          <p:cNvPr id="25" name="Text 23"/>
          <p:cNvSpPr/>
          <p:nvPr/>
        </p:nvSpPr>
        <p:spPr>
          <a:xfrm>
            <a:off x="4937760" y="2542032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559552" y="2523744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Entrepôt Intelligent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559552" y="2944368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TCP client-serveur &amp; Anti-Deadlock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" y="3639312"/>
            <a:ext cx="4187952" cy="987552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3639312"/>
            <a:ext cx="64008" cy="987552"/>
          </a:xfrm>
          <a:prstGeom prst="rect">
            <a:avLst/>
          </a:prstGeom>
          <a:solidFill>
            <a:srgbClr val="1DB87A"/>
          </a:solidFill>
        </p:spPr>
      </p:sp>
      <p:sp>
        <p:nvSpPr>
          <p:cNvPr id="30" name="Text 28"/>
          <p:cNvSpPr/>
          <p:nvPr/>
        </p:nvSpPr>
        <p:spPr>
          <a:xfrm>
            <a:off x="530352" y="3712464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8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152144" y="3694176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 d'Exécution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152144" y="4114800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Prérequis · Compilation · Lancement · Résultats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639312"/>
            <a:ext cx="4187952" cy="987552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639312"/>
            <a:ext cx="64008" cy="987552"/>
          </a:xfrm>
          <a:prstGeom prst="rect">
            <a:avLst/>
          </a:prstGeom>
          <a:solidFill>
            <a:srgbClr val="1DB87A"/>
          </a:solidFill>
        </p:spPr>
      </p:sp>
      <p:sp>
        <p:nvSpPr>
          <p:cNvPr id="35" name="Text 33"/>
          <p:cNvSpPr/>
          <p:nvPr/>
        </p:nvSpPr>
        <p:spPr>
          <a:xfrm>
            <a:off x="4937760" y="3712464"/>
            <a:ext cx="594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8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559552" y="3694176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 &amp; Proverbe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559552" y="4114800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Bilan des compétences acquises</a:t>
            </a:r>
            <a:endParaRPr lang="en-US" sz="950" dirty="0"/>
          </a:p>
        </p:txBody>
      </p:sp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2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Contexte &amp; Objectifs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Systèmes d'Exploitation | ENSEM Casablanca — GLD-1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4160520" cy="3547872"/>
          </a:xfrm>
          <a:prstGeom prst="rect">
            <a:avLst/>
          </a:prstGeom>
          <a:solidFill>
            <a:srgbClr val="0B1535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353312"/>
            <a:ext cx="4160520" cy="475488"/>
          </a:xfrm>
          <a:prstGeom prst="rect">
            <a:avLst/>
          </a:prstGeom>
          <a:solidFill>
            <a:srgbClr val="122047"/>
          </a:solidFill>
        </p:spPr>
      </p:sp>
      <p:sp>
        <p:nvSpPr>
          <p:cNvPr id="11" name="Shape 8"/>
          <p:cNvSpPr/>
          <p:nvPr/>
        </p:nvSpPr>
        <p:spPr>
          <a:xfrm>
            <a:off x="292608" y="1353312"/>
            <a:ext cx="64008" cy="354787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2" name="Text 9"/>
          <p:cNvSpPr/>
          <p:nvPr/>
        </p:nvSpPr>
        <p:spPr>
          <a:xfrm>
            <a:off x="457200" y="1353312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1920240"/>
            <a:ext cx="3886200" cy="2834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 projet s'inscrit dans le cadre du module Systèmes d'Exploitation à l'ENSEM.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 vise à mettre en pratique les concepts fondamentaux des OS modernes 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• Gestion des processus &amp; ordonnancement CPU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• Programmation concurrente avec POSIX threads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• Synchronisation par mutex et variables de condition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• Communication réseau via sockets TCP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Langage : C (POSIX) — Environnement : Kubuntu Linux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36592" y="1353312"/>
            <a:ext cx="4114800" cy="3547872"/>
          </a:xfrm>
          <a:prstGeom prst="rect">
            <a:avLst/>
          </a:prstGeom>
          <a:solidFill>
            <a:srgbClr val="0B1535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36592" y="1353312"/>
            <a:ext cx="4114800" cy="475488"/>
          </a:xfrm>
          <a:prstGeom prst="rect">
            <a:avLst/>
          </a:prstGeom>
          <a:solidFill>
            <a:srgbClr val="C9A84C">
              <a:alpha val="85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4736592" y="1353312"/>
            <a:ext cx="64008" cy="354787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7" name="Text 14"/>
          <p:cNvSpPr/>
          <p:nvPr/>
        </p:nvSpPr>
        <p:spPr>
          <a:xfrm>
            <a:off x="4892040" y="1353312"/>
            <a:ext cx="384048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80C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OBJECTIFS PÉDAGOGIQUES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9339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30368" y="1956816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Comprendre et implémenter 3 algorithmes d'ordonnancement CPU</a:t>
            </a:r>
            <a:endParaRPr lang="en-US" sz="11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560320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30368" y="2523744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Maîtriser la programmation multi-thread avec POSIX pthreads</a:t>
            </a:r>
            <a:endParaRPr lang="en-US" sz="11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12724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30368" y="3090672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Gérer la synchronisation et éviter les deadlocks</a:t>
            </a:r>
            <a:endParaRPr lang="en-US" sz="11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69417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230368" y="3657600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Mettre en place une architecture client/serveur TCP en C</a:t>
            </a:r>
            <a:endParaRPr lang="en-US" sz="11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261104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230368" y="4224528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Simuler un système concurrent réaliste : un entrepôt intelligent</a:t>
            </a:r>
            <a:endParaRPr lang="en-US" sz="1100" dirty="0"/>
          </a:p>
        </p:txBody>
      </p:sp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3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Générale du Projet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 des fichiers &amp; organisation modulaire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4023360" cy="3547872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353312"/>
            <a:ext cx="4023360" cy="438912"/>
          </a:xfrm>
          <a:prstGeom prst="rect">
            <a:avLst/>
          </a:prstGeom>
          <a:solidFill>
            <a:srgbClr val="122047"/>
          </a:solidFill>
        </p:spPr>
      </p:sp>
      <p:sp>
        <p:nvSpPr>
          <p:cNvPr id="11" name="Shape 8"/>
          <p:cNvSpPr/>
          <p:nvPr/>
        </p:nvSpPr>
        <p:spPr>
          <a:xfrm>
            <a:off x="292608" y="1353312"/>
            <a:ext cx="64008" cy="354787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2" name="Text 9"/>
          <p:cNvSpPr/>
          <p:nvPr/>
        </p:nvSpPr>
        <p:spPr>
          <a:xfrm>
            <a:off x="457200" y="1353312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📁  Arborescence du projet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186537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projet_SE/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57200" y="213969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|── ordonnanceur/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57200" y="24140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7FA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    └── ordo.c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57200" y="26883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|         (Partie 1 — 1 seul fichier)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57200" y="296265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└── entrepot/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" y="323697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|── serveur/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351129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|    └── serveur.c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37856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|         (TCP multithreadé)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57200" y="405993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└── client/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57200" y="433425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983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└── bras.c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57200" y="460857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(3 threads / bras)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572000" y="1353312"/>
            <a:ext cx="4251960" cy="1664208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572000" y="1353312"/>
            <a:ext cx="4251960" cy="475488"/>
          </a:xfrm>
          <a:prstGeom prst="rect">
            <a:avLst/>
          </a:prstGeom>
          <a:solidFill>
            <a:srgbClr val="1A7FAF">
              <a:alpha val="80000"/>
            </a:srgbClr>
          </a:solidFill>
        </p:spPr>
      </p:sp>
      <p:sp>
        <p:nvSpPr>
          <p:cNvPr id="26" name="Shape 23"/>
          <p:cNvSpPr/>
          <p:nvPr/>
        </p:nvSpPr>
        <p:spPr>
          <a:xfrm>
            <a:off x="4572000" y="1353312"/>
            <a:ext cx="64008" cy="1664208"/>
          </a:xfrm>
          <a:prstGeom prst="rect">
            <a:avLst/>
          </a:prstGeom>
          <a:solidFill>
            <a:srgbClr val="1A7FAF"/>
          </a:solidFill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463040"/>
            <a:ext cx="274320" cy="2743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074920" y="1371600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1 — Ordonnanceur de Processus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709160" y="1901952"/>
            <a:ext cx="3977640" cy="10241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Fichier unique : ordo.c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 tick par tick sur CPU unique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politiques : FIFO · SJF · Round Robin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Affichage coloré + statistiques comparatives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572000" y="3163824"/>
            <a:ext cx="4251960" cy="1664208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572000" y="3163824"/>
            <a:ext cx="4251960" cy="475488"/>
          </a:xfrm>
          <a:prstGeom prst="rect">
            <a:avLst/>
          </a:prstGeom>
          <a:solidFill>
            <a:srgbClr val="1DB87A">
              <a:alpha val="80000"/>
            </a:srgbClr>
          </a:solidFill>
        </p:spPr>
      </p:sp>
      <p:sp>
        <p:nvSpPr>
          <p:cNvPr id="32" name="Shape 28"/>
          <p:cNvSpPr/>
          <p:nvPr/>
        </p:nvSpPr>
        <p:spPr>
          <a:xfrm>
            <a:off x="4572000" y="3163824"/>
            <a:ext cx="64008" cy="1664208"/>
          </a:xfrm>
          <a:prstGeom prst="rect">
            <a:avLst/>
          </a:prstGeom>
          <a:solidFill>
            <a:srgbClr val="1DB87A"/>
          </a:solidFill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3273552"/>
            <a:ext cx="274320" cy="27432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074920" y="3182112"/>
            <a:ext cx="3611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2 — Entrepôt Intelligent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4709160" y="3712464"/>
            <a:ext cx="3977640" cy="10241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serveur.c — Gestionnaire TCP d'outils partagés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bras.c — Client 3 threads (réflexion/demande/assemblage)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outils partagés · Mutex + variables de condition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Anti-deadlock par ordre croissant d'acquisition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4572000" y="4919472"/>
            <a:ext cx="4251960" cy="0"/>
          </a:xfrm>
          <a:prstGeom prst="rect">
            <a:avLst/>
          </a:prstGeom>
          <a:noFill/>
        </p:spPr>
      </p:sp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4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1 — Ordonnanceur de Processus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Simulation tick par tick d'un CPU unique | Fichier : ordo.c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4160520" cy="3547872"/>
          </a:xfrm>
          <a:prstGeom prst="rect">
            <a:avLst/>
          </a:prstGeom>
          <a:solidFill>
            <a:srgbClr val="EEF2FA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353312"/>
            <a:ext cx="4160520" cy="438912"/>
          </a:xfrm>
          <a:prstGeom prst="rect">
            <a:avLst/>
          </a:prstGeom>
          <a:solidFill>
            <a:srgbClr val="0B1535"/>
          </a:solidFill>
        </p:spPr>
      </p:sp>
      <p:sp>
        <p:nvSpPr>
          <p:cNvPr id="11" name="Shape 8"/>
          <p:cNvSpPr/>
          <p:nvPr/>
        </p:nvSpPr>
        <p:spPr>
          <a:xfrm>
            <a:off x="292608" y="1353312"/>
            <a:ext cx="64008" cy="354787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2" name="Text 9"/>
          <p:cNvSpPr/>
          <p:nvPr/>
        </p:nvSpPr>
        <p:spPr>
          <a:xfrm>
            <a:off x="457200" y="1353312"/>
            <a:ext cx="38862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 DE DONNÉES — PROCESSUS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84048" y="1901952"/>
            <a:ext cx="1143000" cy="256032"/>
          </a:xfrm>
          <a:prstGeom prst="rect">
            <a:avLst/>
          </a:prstGeom>
          <a:solidFill>
            <a:srgbClr val="C9A84C">
              <a:alpha val="75000"/>
            </a:srgbClr>
          </a:solidFill>
        </p:spPr>
      </p:sp>
      <p:sp>
        <p:nvSpPr>
          <p:cNvPr id="14" name="Text 11"/>
          <p:cNvSpPr/>
          <p:nvPr/>
        </p:nvSpPr>
        <p:spPr>
          <a:xfrm>
            <a:off x="402336" y="1901952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5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nom[8]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609344" y="1883664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0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Identifiant du processus (P1, P2…)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84048" y="2231136"/>
            <a:ext cx="1143000" cy="256032"/>
          </a:xfrm>
          <a:prstGeom prst="rect">
            <a:avLst/>
          </a:prstGeom>
          <a:solidFill>
            <a:srgbClr val="C9A84C">
              <a:alpha val="75000"/>
            </a:srgbClr>
          </a:solidFill>
        </p:spPr>
      </p:sp>
      <p:sp>
        <p:nvSpPr>
          <p:cNvPr id="17" name="Text 14"/>
          <p:cNvSpPr/>
          <p:nvPr/>
        </p:nvSpPr>
        <p:spPr>
          <a:xfrm>
            <a:off x="402336" y="2231136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5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arrivee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609344" y="221284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0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 d'arrivée dans la file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84048" y="2560320"/>
            <a:ext cx="1143000" cy="256032"/>
          </a:xfrm>
          <a:prstGeom prst="rect">
            <a:avLst/>
          </a:prstGeom>
          <a:solidFill>
            <a:srgbClr val="C9A84C">
              <a:alpha val="75000"/>
            </a:srgbClr>
          </a:solidFill>
        </p:spPr>
      </p:sp>
      <p:sp>
        <p:nvSpPr>
          <p:cNvPr id="20" name="Text 17"/>
          <p:cNvSpPr/>
          <p:nvPr/>
        </p:nvSpPr>
        <p:spPr>
          <a:xfrm>
            <a:off x="402336" y="2560320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5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burst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609344" y="254203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0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Durée CPU totale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84048" y="2889504"/>
            <a:ext cx="1143000" cy="256032"/>
          </a:xfrm>
          <a:prstGeom prst="rect">
            <a:avLst/>
          </a:prstGeom>
          <a:solidFill>
            <a:srgbClr val="C9A84C">
              <a:alpha val="75000"/>
            </a:srgbClr>
          </a:solidFill>
        </p:spPr>
      </p:sp>
      <p:sp>
        <p:nvSpPr>
          <p:cNvPr id="23" name="Text 20"/>
          <p:cNvSpPr/>
          <p:nvPr/>
        </p:nvSpPr>
        <p:spPr>
          <a:xfrm>
            <a:off x="402336" y="2889504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5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restant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609344" y="2871216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0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Temps CPU encore nécessaire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84048" y="3218688"/>
            <a:ext cx="1143000" cy="256032"/>
          </a:xfrm>
          <a:prstGeom prst="rect">
            <a:avLst/>
          </a:prstGeom>
          <a:solidFill>
            <a:srgbClr val="C9A84C">
              <a:alpha val="75000"/>
            </a:srgbClr>
          </a:solidFill>
        </p:spPr>
      </p:sp>
      <p:sp>
        <p:nvSpPr>
          <p:cNvPr id="26" name="Text 23"/>
          <p:cNvSpPr/>
          <p:nvPr/>
        </p:nvSpPr>
        <p:spPr>
          <a:xfrm>
            <a:off x="402336" y="3218688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5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etat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609344" y="320040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0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NOUVEAU / PRET / EN_COURS / TERMINE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384048" y="3547872"/>
            <a:ext cx="1143000" cy="256032"/>
          </a:xfrm>
          <a:prstGeom prst="rect">
            <a:avLst/>
          </a:prstGeom>
          <a:solidFill>
            <a:srgbClr val="C9A84C">
              <a:alpha val="75000"/>
            </a:srgbClr>
          </a:solidFill>
        </p:spPr>
      </p:sp>
      <p:sp>
        <p:nvSpPr>
          <p:cNvPr id="29" name="Text 26"/>
          <p:cNvSpPr/>
          <p:nvPr/>
        </p:nvSpPr>
        <p:spPr>
          <a:xfrm>
            <a:off x="402336" y="3547872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5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debut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1609344" y="3529584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0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 de première exécution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84048" y="3877056"/>
            <a:ext cx="1143000" cy="256032"/>
          </a:xfrm>
          <a:prstGeom prst="rect">
            <a:avLst/>
          </a:prstGeom>
          <a:solidFill>
            <a:srgbClr val="C9A84C">
              <a:alpha val="75000"/>
            </a:srgbClr>
          </a:solidFill>
        </p:spPr>
      </p:sp>
      <p:sp>
        <p:nvSpPr>
          <p:cNvPr id="32" name="Text 29"/>
          <p:cNvSpPr/>
          <p:nvPr/>
        </p:nvSpPr>
        <p:spPr>
          <a:xfrm>
            <a:off x="402336" y="3877056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5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fin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609344" y="3858768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0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Tick de fin d'exécution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384048" y="4206240"/>
            <a:ext cx="1143000" cy="256032"/>
          </a:xfrm>
          <a:prstGeom prst="rect">
            <a:avLst/>
          </a:prstGeom>
          <a:solidFill>
            <a:srgbClr val="C9A84C">
              <a:alpha val="75000"/>
            </a:srgbClr>
          </a:solidFill>
        </p:spPr>
      </p:sp>
      <p:sp>
        <p:nvSpPr>
          <p:cNvPr id="35" name="Text 32"/>
          <p:cNvSpPr/>
          <p:nvPr/>
        </p:nvSpPr>
        <p:spPr>
          <a:xfrm>
            <a:off x="402336" y="4206240"/>
            <a:ext cx="11247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53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attente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609344" y="418795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2204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Temps passé en attente (PRET)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736592" y="1353312"/>
            <a:ext cx="4114800" cy="3547872"/>
          </a:xfrm>
          <a:prstGeom prst="rect">
            <a:avLst/>
          </a:prstGeom>
          <a:solidFill>
            <a:srgbClr val="0B1535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736592" y="1353312"/>
            <a:ext cx="4114800" cy="438912"/>
          </a:xfrm>
          <a:prstGeom prst="rect">
            <a:avLst/>
          </a:prstGeom>
          <a:solidFill>
            <a:srgbClr val="C9A84C">
              <a:alpha val="90000"/>
            </a:srgbClr>
          </a:solidFill>
        </p:spPr>
      </p:sp>
      <p:sp>
        <p:nvSpPr>
          <p:cNvPr id="39" name="Shape 36"/>
          <p:cNvSpPr/>
          <p:nvPr/>
        </p:nvSpPr>
        <p:spPr>
          <a:xfrm>
            <a:off x="4736592" y="1353312"/>
            <a:ext cx="64008" cy="354787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0" name="Text 37"/>
          <p:cNvSpPr/>
          <p:nvPr/>
        </p:nvSpPr>
        <p:spPr>
          <a:xfrm>
            <a:off x="4892040" y="1353312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80C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MOTEUR DE SIMULATION TICK-BY-TICK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4864608" y="1956816"/>
            <a:ext cx="365760" cy="365760"/>
          </a:xfrm>
          <a:prstGeom prst="ellipse">
            <a:avLst/>
          </a:prstGeom>
          <a:solidFill>
            <a:srgbClr val="C9A84C">
              <a:alpha val="80000"/>
            </a:srgbClr>
          </a:solidFill>
        </p:spPr>
      </p:sp>
      <p:sp>
        <p:nvSpPr>
          <p:cNvPr id="42" name="Text 39"/>
          <p:cNvSpPr/>
          <p:nvPr/>
        </p:nvSpPr>
        <p:spPr>
          <a:xfrm>
            <a:off x="4864608" y="195681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</a:rPr>
              <a:t>①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5321808" y="1938528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Faire arriver les processus dont l'heure est venue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864608" y="2523744"/>
            <a:ext cx="365760" cy="365760"/>
          </a:xfrm>
          <a:prstGeom prst="ellipse">
            <a:avLst/>
          </a:prstGeom>
          <a:solidFill>
            <a:srgbClr val="1A7FAF">
              <a:alpha val="80000"/>
            </a:srgbClr>
          </a:solidFill>
        </p:spPr>
      </p:sp>
      <p:sp>
        <p:nvSpPr>
          <p:cNvPr id="45" name="Text 42"/>
          <p:cNvSpPr/>
          <p:nvPr/>
        </p:nvSpPr>
        <p:spPr>
          <a:xfrm>
            <a:off x="4864608" y="252374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7FAF"/>
                </a:solidFill>
              </a:rPr>
              <a:t>②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5321808" y="2505456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Sélectionner le processus actif via la politique choisie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864608" y="3090672"/>
            <a:ext cx="365760" cy="365760"/>
          </a:xfrm>
          <a:prstGeom prst="ellipse">
            <a:avLst/>
          </a:prstGeom>
          <a:solidFill>
            <a:srgbClr val="1DB87A">
              <a:alpha val="80000"/>
            </a:srgbClr>
          </a:solidFill>
        </p:spPr>
      </p:sp>
      <p:sp>
        <p:nvSpPr>
          <p:cNvPr id="48" name="Text 45"/>
          <p:cNvSpPr/>
          <p:nvPr/>
        </p:nvSpPr>
        <p:spPr>
          <a:xfrm>
            <a:off x="4864608" y="30906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B87A"/>
                </a:solidFill>
              </a:rPr>
              <a:t>③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5321808" y="3072384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Exécuter un tick : décrémenter le temps restant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4864608" y="3657600"/>
            <a:ext cx="365760" cy="365760"/>
          </a:xfrm>
          <a:prstGeom prst="ellipse">
            <a:avLst/>
          </a:prstGeom>
          <a:solidFill>
            <a:srgbClr val="E89830">
              <a:alpha val="80000"/>
            </a:srgbClr>
          </a:solidFill>
        </p:spPr>
      </p:sp>
      <p:sp>
        <p:nvSpPr>
          <p:cNvPr id="51" name="Text 48"/>
          <p:cNvSpPr/>
          <p:nvPr/>
        </p:nvSpPr>
        <p:spPr>
          <a:xfrm>
            <a:off x="4864608" y="36576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9830"/>
                </a:solidFill>
              </a:rPr>
              <a:t>④</a:t>
            </a:r>
            <a:endParaRPr lang="en-US" sz="1400" dirty="0"/>
          </a:p>
        </p:txBody>
      </p:sp>
      <p:sp>
        <p:nvSpPr>
          <p:cNvPr id="52" name="Text 49"/>
          <p:cNvSpPr/>
          <p:nvPr/>
        </p:nvSpPr>
        <p:spPr>
          <a:xfrm>
            <a:off x="5321808" y="3639312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Incrémenter l'attente de tous les processus PRET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4864608" y="4224528"/>
            <a:ext cx="365760" cy="365760"/>
          </a:xfrm>
          <a:prstGeom prst="ellipse">
            <a:avLst/>
          </a:prstGeom>
          <a:solidFill>
            <a:srgbClr val="C9A84C">
              <a:alpha val="80000"/>
            </a:srgbClr>
          </a:solidFill>
        </p:spPr>
      </p:sp>
      <p:sp>
        <p:nvSpPr>
          <p:cNvPr id="54" name="Text 51"/>
          <p:cNvSpPr/>
          <p:nvPr/>
        </p:nvSpPr>
        <p:spPr>
          <a:xfrm>
            <a:off x="4864608" y="422452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</a:rPr>
              <a:t>⑤</a:t>
            </a:r>
            <a:endParaRPr lang="en-US" sz="1400" dirty="0"/>
          </a:p>
        </p:txBody>
      </p:sp>
      <p:sp>
        <p:nvSpPr>
          <p:cNvPr id="55" name="Text 52"/>
          <p:cNvSpPr/>
          <p:nvPr/>
        </p:nvSpPr>
        <p:spPr>
          <a:xfrm>
            <a:off x="5321808" y="4206240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Avancer le compteur de tick : t++</a:t>
            </a:r>
            <a:endParaRPr lang="en-US" sz="1100" dirty="0"/>
          </a:p>
        </p:txBody>
      </p:sp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5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 3 Politiques d'Ordonnancement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FIFO · Shortest Job First · Round Robin (Quantum = 3 ticks)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" y="1353312"/>
            <a:ext cx="2834640" cy="3547872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353312"/>
            <a:ext cx="2834640" cy="594360"/>
          </a:xfrm>
          <a:prstGeom prst="rect">
            <a:avLst/>
          </a:prstGeom>
          <a:solidFill>
            <a:srgbClr val="C9A84C">
              <a:alpha val="90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256032" y="1353312"/>
            <a:ext cx="64008" cy="354787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2" name="Text 9"/>
          <p:cNvSpPr/>
          <p:nvPr/>
        </p:nvSpPr>
        <p:spPr>
          <a:xfrm>
            <a:off x="393192" y="13716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0C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FIFO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335024" y="1371600"/>
            <a:ext cx="16276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0C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In, First Out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84048" y="2029968"/>
            <a:ext cx="2633472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Exécute les processus dans l'ordre d'arrivée.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 préemptif — 1er arrivé = 1er servi.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84048" y="2907792"/>
            <a:ext cx="2633472" cy="347472"/>
          </a:xfrm>
          <a:prstGeom prst="rect">
            <a:avLst/>
          </a:prstGeom>
          <a:solidFill>
            <a:srgbClr val="C9A84C">
              <a:alpha val="28000"/>
            </a:srgbClr>
          </a:solidFill>
        </p:spPr>
      </p:sp>
      <p:sp>
        <p:nvSpPr>
          <p:cNvPr id="16" name="Text 13"/>
          <p:cNvSpPr/>
          <p:nvPr/>
        </p:nvSpPr>
        <p:spPr>
          <a:xfrm>
            <a:off x="384048" y="2907792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Attente moy. : 4.5 ticks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84048" y="3346704"/>
            <a:ext cx="64008" cy="365760"/>
          </a:xfrm>
          <a:prstGeom prst="rect">
            <a:avLst/>
          </a:prstGeom>
          <a:solidFill>
            <a:srgbClr val="1DB87A"/>
          </a:solidFill>
        </p:spPr>
      </p:sp>
      <p:sp>
        <p:nvSpPr>
          <p:cNvPr id="18" name="Text 15"/>
          <p:cNvSpPr/>
          <p:nvPr/>
        </p:nvSpPr>
        <p:spPr>
          <a:xfrm>
            <a:off x="512064" y="3346704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8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Simple. Aucune famine possible.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84048" y="3803904"/>
            <a:ext cx="64008" cy="365760"/>
          </a:xfrm>
          <a:prstGeom prst="rect">
            <a:avLst/>
          </a:prstGeom>
          <a:solidFill>
            <a:srgbClr val="E05252"/>
          </a:solidFill>
        </p:spPr>
      </p:sp>
      <p:sp>
        <p:nvSpPr>
          <p:cNvPr id="20" name="Text 17"/>
          <p:cNvSpPr/>
          <p:nvPr/>
        </p:nvSpPr>
        <p:spPr>
          <a:xfrm>
            <a:off x="512064" y="3803904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52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Effet convoi : un long processus bloque les courts.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18688" y="1353312"/>
            <a:ext cx="2834640" cy="3547872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218688" y="1353312"/>
            <a:ext cx="2834640" cy="594360"/>
          </a:xfrm>
          <a:prstGeom prst="rect">
            <a:avLst/>
          </a:prstGeom>
          <a:solidFill>
            <a:srgbClr val="1A7FAF">
              <a:alpha val="90000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3218688" y="1353312"/>
            <a:ext cx="64008" cy="3547872"/>
          </a:xfrm>
          <a:prstGeom prst="rect">
            <a:avLst/>
          </a:prstGeom>
          <a:solidFill>
            <a:srgbClr val="1A7FAF"/>
          </a:solidFill>
        </p:spPr>
      </p:sp>
      <p:sp>
        <p:nvSpPr>
          <p:cNvPr id="24" name="Text 21"/>
          <p:cNvSpPr/>
          <p:nvPr/>
        </p:nvSpPr>
        <p:spPr>
          <a:xfrm>
            <a:off x="3355848" y="13716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0C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SJF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4297680" y="1371600"/>
            <a:ext cx="16276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0C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Shortest Job First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346704" y="2029968"/>
            <a:ext cx="2633472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Sélectionne le processus prêt dont le burst CPU restant est le plus court.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346704" y="2907792"/>
            <a:ext cx="2633472" cy="347472"/>
          </a:xfrm>
          <a:prstGeom prst="rect">
            <a:avLst/>
          </a:prstGeom>
          <a:solidFill>
            <a:srgbClr val="1A7FAF">
              <a:alpha val="28000"/>
            </a:srgbClr>
          </a:solidFill>
        </p:spPr>
      </p:sp>
      <p:sp>
        <p:nvSpPr>
          <p:cNvPr id="28" name="Text 25"/>
          <p:cNvSpPr/>
          <p:nvPr/>
        </p:nvSpPr>
        <p:spPr>
          <a:xfrm>
            <a:off x="3346704" y="2907792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Attente moy. : 2.0 ticks ★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346704" y="3346704"/>
            <a:ext cx="64008" cy="365760"/>
          </a:xfrm>
          <a:prstGeom prst="rect">
            <a:avLst/>
          </a:prstGeom>
          <a:solidFill>
            <a:srgbClr val="1DB87A"/>
          </a:solidFill>
        </p:spPr>
      </p:sp>
      <p:sp>
        <p:nvSpPr>
          <p:cNvPr id="30" name="Text 27"/>
          <p:cNvSpPr/>
          <p:nvPr/>
        </p:nvSpPr>
        <p:spPr>
          <a:xfrm>
            <a:off x="3474720" y="3346704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8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Temps d'attente moyen minimal (optimal).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346704" y="3803904"/>
            <a:ext cx="64008" cy="365760"/>
          </a:xfrm>
          <a:prstGeom prst="rect">
            <a:avLst/>
          </a:prstGeom>
          <a:solidFill>
            <a:srgbClr val="E05252"/>
          </a:solidFill>
        </p:spPr>
      </p:sp>
      <p:sp>
        <p:nvSpPr>
          <p:cNvPr id="32" name="Text 29"/>
          <p:cNvSpPr/>
          <p:nvPr/>
        </p:nvSpPr>
        <p:spPr>
          <a:xfrm>
            <a:off x="3474720" y="3803904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52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Risque de famine pour les longs processus.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6181344" y="1353312"/>
            <a:ext cx="2834640" cy="3547872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181344" y="1353312"/>
            <a:ext cx="2834640" cy="594360"/>
          </a:xfrm>
          <a:prstGeom prst="rect">
            <a:avLst/>
          </a:prstGeom>
          <a:solidFill>
            <a:srgbClr val="1DB87A">
              <a:alpha val="90000"/>
            </a:srgbClr>
          </a:solidFill>
        </p:spPr>
      </p:sp>
      <p:sp>
        <p:nvSpPr>
          <p:cNvPr id="35" name="Shape 32"/>
          <p:cNvSpPr/>
          <p:nvPr/>
        </p:nvSpPr>
        <p:spPr>
          <a:xfrm>
            <a:off x="6181344" y="1353312"/>
            <a:ext cx="64008" cy="3547872"/>
          </a:xfrm>
          <a:prstGeom prst="rect">
            <a:avLst/>
          </a:prstGeom>
          <a:solidFill>
            <a:srgbClr val="1DB87A"/>
          </a:solidFill>
        </p:spPr>
      </p:sp>
      <p:sp>
        <p:nvSpPr>
          <p:cNvPr id="36" name="Text 33"/>
          <p:cNvSpPr/>
          <p:nvPr/>
        </p:nvSpPr>
        <p:spPr>
          <a:xfrm>
            <a:off x="6318504" y="137160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0C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RR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7260336" y="1371600"/>
            <a:ext cx="162763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80C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Round Robin (Q=3)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309360" y="2029968"/>
            <a:ext cx="2633472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fixe de 3 ticks par processus.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Préemptif — garantit équité et réactivité.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309360" y="2907792"/>
            <a:ext cx="2633472" cy="347472"/>
          </a:xfrm>
          <a:prstGeom prst="rect">
            <a:avLst/>
          </a:prstGeom>
          <a:solidFill>
            <a:srgbClr val="1DB87A">
              <a:alpha val="28000"/>
            </a:srgbClr>
          </a:solidFill>
        </p:spPr>
      </p:sp>
      <p:sp>
        <p:nvSpPr>
          <p:cNvPr id="40" name="Text 37"/>
          <p:cNvSpPr/>
          <p:nvPr/>
        </p:nvSpPr>
        <p:spPr>
          <a:xfrm>
            <a:off x="6309360" y="2907792"/>
            <a:ext cx="2633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B8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Attente moy. : 3.8 ticks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309360" y="3346704"/>
            <a:ext cx="64008" cy="365760"/>
          </a:xfrm>
          <a:prstGeom prst="rect">
            <a:avLst/>
          </a:prstGeom>
          <a:solidFill>
            <a:srgbClr val="1DB87A"/>
          </a:solidFill>
        </p:spPr>
      </p:sp>
      <p:sp>
        <p:nvSpPr>
          <p:cNvPr id="42" name="Text 39"/>
          <p:cNvSpPr/>
          <p:nvPr/>
        </p:nvSpPr>
        <p:spPr>
          <a:xfrm>
            <a:off x="6437376" y="3346704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B8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Équitable. Aucun processus ne monopolise le CPU.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309360" y="3803904"/>
            <a:ext cx="64008" cy="365760"/>
          </a:xfrm>
          <a:prstGeom prst="rect">
            <a:avLst/>
          </a:prstGeom>
          <a:solidFill>
            <a:srgbClr val="E05252"/>
          </a:solidFill>
        </p:spPr>
      </p:sp>
      <p:sp>
        <p:nvSpPr>
          <p:cNvPr id="44" name="Text 41"/>
          <p:cNvSpPr/>
          <p:nvPr/>
        </p:nvSpPr>
        <p:spPr>
          <a:xfrm>
            <a:off x="6437376" y="3803904"/>
            <a:ext cx="24871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052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 Retour plus long si le quantum est mal choisi.</a:t>
            </a:r>
            <a:endParaRPr lang="en-US" sz="950" dirty="0"/>
          </a:p>
        </p:txBody>
      </p:sp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6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Résultats &amp; Comparatif des Politiques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Jeu de test : 4 processus P1–P4 | Métriques : attente &amp; retour moyens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4023360" cy="3547872"/>
          </a:xfrm>
          <a:prstGeom prst="rect">
            <a:avLst/>
          </a:prstGeom>
          <a:solidFill>
            <a:srgbClr val="EEF2FA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353312"/>
            <a:ext cx="4023360" cy="438912"/>
          </a:xfrm>
          <a:prstGeom prst="rect">
            <a:avLst/>
          </a:prstGeom>
          <a:solidFill>
            <a:srgbClr val="0B1535"/>
          </a:solidFill>
        </p:spPr>
      </p:sp>
      <p:sp>
        <p:nvSpPr>
          <p:cNvPr id="11" name="Shape 8"/>
          <p:cNvSpPr/>
          <p:nvPr/>
        </p:nvSpPr>
        <p:spPr>
          <a:xfrm>
            <a:off x="292608" y="1353312"/>
            <a:ext cx="64008" cy="354787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2" name="Text 9"/>
          <p:cNvSpPr/>
          <p:nvPr/>
        </p:nvSpPr>
        <p:spPr>
          <a:xfrm>
            <a:off x="457200" y="1353312"/>
            <a:ext cx="3749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JEU DE TEST — 4 PROCESSUS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84048" y="1865376"/>
            <a:ext cx="914400" cy="347472"/>
          </a:xfrm>
          <a:prstGeom prst="rect">
            <a:avLst/>
          </a:prstGeom>
          <a:solidFill>
            <a:srgbClr val="0B1535"/>
          </a:solidFill>
        </p:spPr>
      </p:sp>
      <p:sp>
        <p:nvSpPr>
          <p:cNvPr id="14" name="Text 11"/>
          <p:cNvSpPr/>
          <p:nvPr/>
        </p:nvSpPr>
        <p:spPr>
          <a:xfrm>
            <a:off x="384048" y="1865376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Processus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1335024" y="1865376"/>
            <a:ext cx="914400" cy="347472"/>
          </a:xfrm>
          <a:prstGeom prst="rect">
            <a:avLst/>
          </a:prstGeom>
          <a:solidFill>
            <a:srgbClr val="0B1535"/>
          </a:solidFill>
        </p:spPr>
      </p:sp>
      <p:sp>
        <p:nvSpPr>
          <p:cNvPr id="16" name="Text 13"/>
          <p:cNvSpPr/>
          <p:nvPr/>
        </p:nvSpPr>
        <p:spPr>
          <a:xfrm>
            <a:off x="1335024" y="1865376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Arrivée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286000" y="1865376"/>
            <a:ext cx="914400" cy="347472"/>
          </a:xfrm>
          <a:prstGeom prst="rect">
            <a:avLst/>
          </a:prstGeom>
          <a:solidFill>
            <a:srgbClr val="0B1535"/>
          </a:solidFill>
        </p:spPr>
      </p:sp>
      <p:sp>
        <p:nvSpPr>
          <p:cNvPr id="18" name="Text 15"/>
          <p:cNvSpPr/>
          <p:nvPr/>
        </p:nvSpPr>
        <p:spPr>
          <a:xfrm>
            <a:off x="2286000" y="1865376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Burst CPU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236976" y="1865376"/>
            <a:ext cx="914400" cy="347472"/>
          </a:xfrm>
          <a:prstGeom prst="rect">
            <a:avLst/>
          </a:prstGeom>
          <a:solidFill>
            <a:srgbClr val="0B1535"/>
          </a:solidFill>
        </p:spPr>
      </p:sp>
      <p:sp>
        <p:nvSpPr>
          <p:cNvPr id="20" name="Text 17"/>
          <p:cNvSpPr/>
          <p:nvPr/>
        </p:nvSpPr>
        <p:spPr>
          <a:xfrm>
            <a:off x="3236976" y="1865376"/>
            <a:ext cx="914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Priorité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84048" y="2267712"/>
            <a:ext cx="914400" cy="420624"/>
          </a:xfrm>
          <a:prstGeom prst="rect">
            <a:avLst/>
          </a:prstGeom>
          <a:solidFill>
            <a:srgbClr val="0B1535"/>
          </a:solidFill>
        </p:spPr>
      </p:sp>
      <p:sp>
        <p:nvSpPr>
          <p:cNvPr id="22" name="Text 19"/>
          <p:cNvSpPr/>
          <p:nvPr/>
        </p:nvSpPr>
        <p:spPr>
          <a:xfrm>
            <a:off x="384048" y="2267712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P1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1335024" y="2267712"/>
            <a:ext cx="91440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4" name="Text 21"/>
          <p:cNvSpPr/>
          <p:nvPr/>
        </p:nvSpPr>
        <p:spPr>
          <a:xfrm>
            <a:off x="1335024" y="2267712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286000" y="2267712"/>
            <a:ext cx="91440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3"/>
          <p:cNvSpPr/>
          <p:nvPr/>
        </p:nvSpPr>
        <p:spPr>
          <a:xfrm>
            <a:off x="2286000" y="2267712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ticks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236976" y="2267712"/>
            <a:ext cx="91440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Text 25"/>
          <p:cNvSpPr/>
          <p:nvPr/>
        </p:nvSpPr>
        <p:spPr>
          <a:xfrm>
            <a:off x="3236976" y="2267712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89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Court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384048" y="2761488"/>
            <a:ext cx="914400" cy="420624"/>
          </a:xfrm>
          <a:prstGeom prst="rect">
            <a:avLst/>
          </a:prstGeom>
          <a:solidFill>
            <a:srgbClr val="0B1535"/>
          </a:solidFill>
        </p:spPr>
      </p:sp>
      <p:sp>
        <p:nvSpPr>
          <p:cNvPr id="30" name="Text 27"/>
          <p:cNvSpPr/>
          <p:nvPr/>
        </p:nvSpPr>
        <p:spPr>
          <a:xfrm>
            <a:off x="384048" y="2761488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P2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1335024" y="2761488"/>
            <a:ext cx="914400" cy="420624"/>
          </a:xfrm>
          <a:prstGeom prst="rect">
            <a:avLst/>
          </a:prstGeom>
          <a:solidFill>
            <a:srgbClr val="E8EEF8"/>
          </a:solidFill>
        </p:spPr>
      </p:sp>
      <p:sp>
        <p:nvSpPr>
          <p:cNvPr id="32" name="Text 29"/>
          <p:cNvSpPr/>
          <p:nvPr/>
        </p:nvSpPr>
        <p:spPr>
          <a:xfrm>
            <a:off x="1335024" y="2761488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2286000" y="2761488"/>
            <a:ext cx="914400" cy="420624"/>
          </a:xfrm>
          <a:prstGeom prst="rect">
            <a:avLst/>
          </a:prstGeom>
          <a:solidFill>
            <a:srgbClr val="E8EEF8"/>
          </a:solidFill>
        </p:spPr>
      </p:sp>
      <p:sp>
        <p:nvSpPr>
          <p:cNvPr id="34" name="Text 31"/>
          <p:cNvSpPr/>
          <p:nvPr/>
        </p:nvSpPr>
        <p:spPr>
          <a:xfrm>
            <a:off x="2286000" y="2761488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ticks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236976" y="2761488"/>
            <a:ext cx="914400" cy="420624"/>
          </a:xfrm>
          <a:prstGeom prst="rect">
            <a:avLst/>
          </a:prstGeom>
          <a:solidFill>
            <a:srgbClr val="E8EEF8"/>
          </a:solidFill>
        </p:spPr>
      </p:sp>
      <p:sp>
        <p:nvSpPr>
          <p:cNvPr id="36" name="Text 33"/>
          <p:cNvSpPr/>
          <p:nvPr/>
        </p:nvSpPr>
        <p:spPr>
          <a:xfrm>
            <a:off x="3236976" y="2761488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B8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Très court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84048" y="3255264"/>
            <a:ext cx="914400" cy="420624"/>
          </a:xfrm>
          <a:prstGeom prst="rect">
            <a:avLst/>
          </a:prstGeom>
          <a:solidFill>
            <a:srgbClr val="0B1535"/>
          </a:solidFill>
        </p:spPr>
      </p:sp>
      <p:sp>
        <p:nvSpPr>
          <p:cNvPr id="38" name="Text 35"/>
          <p:cNvSpPr/>
          <p:nvPr/>
        </p:nvSpPr>
        <p:spPr>
          <a:xfrm>
            <a:off x="384048" y="3255264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P3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1335024" y="3255264"/>
            <a:ext cx="91440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7"/>
          <p:cNvSpPr/>
          <p:nvPr/>
        </p:nvSpPr>
        <p:spPr>
          <a:xfrm>
            <a:off x="1335024" y="3255264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2286000" y="3255264"/>
            <a:ext cx="91440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2" name="Text 39"/>
          <p:cNvSpPr/>
          <p:nvPr/>
        </p:nvSpPr>
        <p:spPr>
          <a:xfrm>
            <a:off x="2286000" y="3255264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 ticks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3236976" y="3255264"/>
            <a:ext cx="914400" cy="42062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4" name="Text 41"/>
          <p:cNvSpPr/>
          <p:nvPr/>
        </p:nvSpPr>
        <p:spPr>
          <a:xfrm>
            <a:off x="3236976" y="3255264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0525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384048" y="3749040"/>
            <a:ext cx="914400" cy="420624"/>
          </a:xfrm>
          <a:prstGeom prst="rect">
            <a:avLst/>
          </a:prstGeom>
          <a:solidFill>
            <a:srgbClr val="0B1535"/>
          </a:solidFill>
        </p:spPr>
      </p:sp>
      <p:sp>
        <p:nvSpPr>
          <p:cNvPr id="46" name="Text 43"/>
          <p:cNvSpPr/>
          <p:nvPr/>
        </p:nvSpPr>
        <p:spPr>
          <a:xfrm>
            <a:off x="384048" y="3749040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P4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1335024" y="3749040"/>
            <a:ext cx="914400" cy="420624"/>
          </a:xfrm>
          <a:prstGeom prst="rect">
            <a:avLst/>
          </a:prstGeom>
          <a:solidFill>
            <a:srgbClr val="E8EEF8"/>
          </a:solidFill>
        </p:spPr>
      </p:sp>
      <p:sp>
        <p:nvSpPr>
          <p:cNvPr id="48" name="Text 45"/>
          <p:cNvSpPr/>
          <p:nvPr/>
        </p:nvSpPr>
        <p:spPr>
          <a:xfrm>
            <a:off x="1335024" y="3749040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2286000" y="3749040"/>
            <a:ext cx="914400" cy="420624"/>
          </a:xfrm>
          <a:prstGeom prst="rect">
            <a:avLst/>
          </a:prstGeom>
          <a:solidFill>
            <a:srgbClr val="E8EEF8"/>
          </a:solidFill>
        </p:spPr>
      </p:sp>
      <p:sp>
        <p:nvSpPr>
          <p:cNvPr id="50" name="Text 47"/>
          <p:cNvSpPr/>
          <p:nvPr/>
        </p:nvSpPr>
        <p:spPr>
          <a:xfrm>
            <a:off x="2286000" y="3749040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1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ticks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3236976" y="3749040"/>
            <a:ext cx="914400" cy="420624"/>
          </a:xfrm>
          <a:prstGeom prst="rect">
            <a:avLst/>
          </a:prstGeom>
          <a:solidFill>
            <a:srgbClr val="E8EEF8"/>
          </a:solidFill>
        </p:spPr>
      </p:sp>
      <p:sp>
        <p:nvSpPr>
          <p:cNvPr id="52" name="Text 49"/>
          <p:cNvSpPr/>
          <p:nvPr/>
        </p:nvSpPr>
        <p:spPr>
          <a:xfrm>
            <a:off x="3236976" y="3749040"/>
            <a:ext cx="914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B8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Très court</a:t>
            </a:r>
            <a:endParaRPr lang="en-US" sz="1050" dirty="0"/>
          </a:p>
        </p:txBody>
      </p:sp>
      <p:graphicFrame>
        <p:nvGraphicFramePr>
          <p:cNvPr id="53" name="Chart 0"/>
          <p:cNvGraphicFramePr/>
          <p:nvPr/>
        </p:nvGraphicFramePr>
        <p:xfrm>
          <a:off x="4553585" y="1333500"/>
          <a:ext cx="4297680" cy="3384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4" name="Shape 50"/>
          <p:cNvSpPr/>
          <p:nvPr/>
        </p:nvSpPr>
        <p:spPr>
          <a:xfrm>
            <a:off x="384048" y="4549140"/>
            <a:ext cx="8558784" cy="256032"/>
          </a:xfrm>
          <a:prstGeom prst="rect">
            <a:avLst/>
          </a:prstGeom>
          <a:solidFill>
            <a:srgbClr val="0B1535"/>
          </a:solidFill>
        </p:spPr>
      </p:sp>
      <p:sp>
        <p:nvSpPr>
          <p:cNvPr id="55" name="Text 51"/>
          <p:cNvSpPr/>
          <p:nvPr/>
        </p:nvSpPr>
        <p:spPr>
          <a:xfrm>
            <a:off x="603758" y="4549140"/>
            <a:ext cx="83759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⭐  SJF = meilleur temps d'attente (2.0 ticks)   |   Round Robin = meilleur compromis équité/performance en environnement interactif</a:t>
            </a:r>
            <a:endParaRPr lang="en-US" sz="950" dirty="0"/>
          </a:p>
        </p:txBody>
      </p:sp>
      <p:sp>
        <p:nvSpPr>
          <p:cNvPr id="902" name="PagPill"/>
          <p:cNvSpPr>
            <a:spLocks noGrp="1"/>
          </p:cNvSpPr>
          <p:nvPr/>
        </p:nvSpPr>
        <p:spPr>
          <a:xfrm>
            <a:off x="3826750" y="4873821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7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2 — Entrepôt Intelligent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Architecture TCP client-serveur · Synchronisation · Prévention des deadlocks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73552" y="1389888"/>
            <a:ext cx="2596896" cy="960120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73552" y="1389888"/>
            <a:ext cx="2596896" cy="365760"/>
          </a:xfrm>
          <a:prstGeom prst="rect">
            <a:avLst/>
          </a:prstGeom>
          <a:solidFill>
            <a:srgbClr val="1A7FAF">
              <a:alpha val="80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3273552" y="1389888"/>
            <a:ext cx="64008" cy="960120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435608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143560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serveur.c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01568" y="1773936"/>
            <a:ext cx="235915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Gestionnaire d'outils TCP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outils partagés · Port 9090 · Max 8 bras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0040" y="3246120"/>
            <a:ext cx="2596896" cy="804672"/>
          </a:xfrm>
          <a:prstGeom prst="rect">
            <a:avLst/>
          </a:prstGeom>
          <a:solidFill>
            <a:srgbClr val="122047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0040" y="3246120"/>
            <a:ext cx="2596896" cy="292608"/>
          </a:xfrm>
          <a:prstGeom prst="rect">
            <a:avLst/>
          </a:prstGeom>
          <a:solidFill>
            <a:srgbClr val="1B3A8A">
              <a:alpha val="70000"/>
            </a:srgbClr>
          </a:solidFill>
        </p:spPr>
      </p:sp>
      <p:sp>
        <p:nvSpPr>
          <p:cNvPr id="17" name="Shape 13"/>
          <p:cNvSpPr/>
          <p:nvPr/>
        </p:nvSpPr>
        <p:spPr>
          <a:xfrm>
            <a:off x="320040" y="3246120"/>
            <a:ext cx="64008" cy="804672"/>
          </a:xfrm>
          <a:prstGeom prst="rect">
            <a:avLst/>
          </a:prstGeom>
          <a:solidFill>
            <a:srgbClr val="1A7FAF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3282696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0664" y="3255264"/>
            <a:ext cx="20116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Bras 1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bras.c — 3 threads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1618488" y="2359152"/>
            <a:ext cx="0" cy="886968"/>
          </a:xfrm>
          <a:prstGeom prst="line">
            <a:avLst/>
          </a:prstGeom>
          <a:noFill/>
          <a:ln w="19050">
            <a:solidFill>
              <a:srgbClr val="C9A84C"/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>
            <a:off x="3273552" y="3246120"/>
            <a:ext cx="2596896" cy="804672"/>
          </a:xfrm>
          <a:prstGeom prst="rect">
            <a:avLst/>
          </a:prstGeom>
          <a:solidFill>
            <a:srgbClr val="122047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73552" y="3246120"/>
            <a:ext cx="2596896" cy="292608"/>
          </a:xfrm>
          <a:prstGeom prst="rect">
            <a:avLst/>
          </a:prstGeom>
          <a:solidFill>
            <a:srgbClr val="1B3A8A">
              <a:alpha val="70000"/>
            </a:srgbClr>
          </a:solidFill>
        </p:spPr>
      </p:sp>
      <p:sp>
        <p:nvSpPr>
          <p:cNvPr id="23" name="Shape 18"/>
          <p:cNvSpPr/>
          <p:nvPr/>
        </p:nvSpPr>
        <p:spPr>
          <a:xfrm>
            <a:off x="3273552" y="3246120"/>
            <a:ext cx="64008" cy="804672"/>
          </a:xfrm>
          <a:prstGeom prst="rect">
            <a:avLst/>
          </a:prstGeom>
          <a:solidFill>
            <a:srgbClr val="1A7FAF"/>
          </a:solidFill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1568" y="3282696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694176" y="3255264"/>
            <a:ext cx="20116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Bras 2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bras.c — 3 threads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572000" y="2359152"/>
            <a:ext cx="0" cy="886968"/>
          </a:xfrm>
          <a:prstGeom prst="line">
            <a:avLst/>
          </a:prstGeom>
          <a:noFill/>
          <a:ln w="19050">
            <a:solidFill>
              <a:srgbClr val="C9A84C"/>
            </a:solidFill>
            <a:prstDash val="dash"/>
          </a:ln>
        </p:spPr>
      </p:sp>
      <p:sp>
        <p:nvSpPr>
          <p:cNvPr id="27" name="Shape 21"/>
          <p:cNvSpPr/>
          <p:nvPr/>
        </p:nvSpPr>
        <p:spPr>
          <a:xfrm>
            <a:off x="6236208" y="3246120"/>
            <a:ext cx="2596896" cy="804672"/>
          </a:xfrm>
          <a:prstGeom prst="rect">
            <a:avLst/>
          </a:prstGeom>
          <a:solidFill>
            <a:srgbClr val="122047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236208" y="3246120"/>
            <a:ext cx="2596896" cy="292608"/>
          </a:xfrm>
          <a:prstGeom prst="rect">
            <a:avLst/>
          </a:prstGeom>
          <a:solidFill>
            <a:srgbClr val="1B3A8A">
              <a:alpha val="70000"/>
            </a:srgbClr>
          </a:solidFill>
        </p:spPr>
      </p:sp>
      <p:sp>
        <p:nvSpPr>
          <p:cNvPr id="29" name="Shape 23"/>
          <p:cNvSpPr/>
          <p:nvPr/>
        </p:nvSpPr>
        <p:spPr>
          <a:xfrm>
            <a:off x="6236208" y="3246120"/>
            <a:ext cx="64008" cy="804672"/>
          </a:xfrm>
          <a:prstGeom prst="rect">
            <a:avLst/>
          </a:prstGeom>
          <a:solidFill>
            <a:srgbClr val="1A7FAF"/>
          </a:solidFill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4" y="3282696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656832" y="3255264"/>
            <a:ext cx="20116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Bras 3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bras.c — 3 threads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7534656" y="2359152"/>
            <a:ext cx="0" cy="886968"/>
          </a:xfrm>
          <a:prstGeom prst="line">
            <a:avLst/>
          </a:prstGeom>
          <a:noFill/>
          <a:ln w="19050">
            <a:solidFill>
              <a:srgbClr val="C9A84C"/>
            </a:solidFill>
            <a:prstDash val="dash"/>
          </a:ln>
        </p:spPr>
      </p:sp>
      <p:sp>
        <p:nvSpPr>
          <p:cNvPr id="33" name="Text 26"/>
          <p:cNvSpPr/>
          <p:nvPr/>
        </p:nvSpPr>
        <p:spPr>
          <a:xfrm>
            <a:off x="365760" y="269748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◄── TCP Socket ──►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256032" y="4224528"/>
            <a:ext cx="2103120" cy="658368"/>
          </a:xfrm>
          <a:prstGeom prst="rect">
            <a:avLst/>
          </a:prstGeom>
          <a:solidFill>
            <a:srgbClr val="122047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256032" y="4224528"/>
            <a:ext cx="64008" cy="658368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4297680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49808" y="423367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Mutex par outil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749808" y="449884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Exclusion mutuelle garantie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2468880" y="4224528"/>
            <a:ext cx="2103120" cy="658368"/>
          </a:xfrm>
          <a:prstGeom prst="rect">
            <a:avLst/>
          </a:prstGeom>
          <a:solidFill>
            <a:srgbClr val="122047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2468880" y="4224528"/>
            <a:ext cx="64008" cy="658368"/>
          </a:xfrm>
          <a:prstGeom prst="rect">
            <a:avLst/>
          </a:prstGeom>
          <a:solidFill>
            <a:srgbClr val="1A7FAF"/>
          </a:solidFill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5184" y="4297680"/>
            <a:ext cx="256032" cy="25603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2962656" y="423367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Variables de condition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2962656" y="449884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Attente sur libération d'outil</a:t>
            </a:r>
            <a:endParaRPr lang="en-US" sz="850" dirty="0"/>
          </a:p>
        </p:txBody>
      </p:sp>
      <p:sp>
        <p:nvSpPr>
          <p:cNvPr id="44" name="Shape 35"/>
          <p:cNvSpPr/>
          <p:nvPr/>
        </p:nvSpPr>
        <p:spPr>
          <a:xfrm>
            <a:off x="4681728" y="4224528"/>
            <a:ext cx="2103120" cy="658368"/>
          </a:xfrm>
          <a:prstGeom prst="rect">
            <a:avLst/>
          </a:prstGeom>
          <a:solidFill>
            <a:srgbClr val="122047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4681728" y="4224528"/>
            <a:ext cx="64008" cy="658368"/>
          </a:xfrm>
          <a:prstGeom prst="rect">
            <a:avLst/>
          </a:prstGeom>
          <a:solidFill>
            <a:srgbClr val="1DB87A"/>
          </a:solidFill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4297680"/>
            <a:ext cx="256032" cy="256032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5175504" y="423367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Anti-Deadlock</a:t>
            </a:r>
            <a:endParaRPr lang="en-US" sz="1000" dirty="0"/>
          </a:p>
        </p:txBody>
      </p:sp>
      <p:sp>
        <p:nvSpPr>
          <p:cNvPr id="48" name="Text 38"/>
          <p:cNvSpPr/>
          <p:nvPr/>
        </p:nvSpPr>
        <p:spPr>
          <a:xfrm>
            <a:off x="5175504" y="449884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Ordre croissant d'acquisition</a:t>
            </a:r>
            <a:endParaRPr lang="en-US" sz="850" dirty="0"/>
          </a:p>
        </p:txBody>
      </p:sp>
      <p:sp>
        <p:nvSpPr>
          <p:cNvPr id="49" name="Shape 39"/>
          <p:cNvSpPr/>
          <p:nvPr/>
        </p:nvSpPr>
        <p:spPr>
          <a:xfrm>
            <a:off x="6894576" y="4224528"/>
            <a:ext cx="2103120" cy="658368"/>
          </a:xfrm>
          <a:prstGeom prst="rect">
            <a:avLst/>
          </a:prstGeom>
          <a:solidFill>
            <a:srgbClr val="122047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6894576" y="4224528"/>
            <a:ext cx="64008" cy="658368"/>
          </a:xfrm>
          <a:prstGeom prst="rect">
            <a:avLst/>
          </a:prstGeom>
          <a:solidFill>
            <a:srgbClr val="E89830"/>
          </a:solidFill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4297680"/>
            <a:ext cx="256032" cy="256032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7388352" y="4233672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Threads / bras</a:t>
            </a:r>
            <a:endParaRPr lang="en-US" sz="1000" dirty="0"/>
          </a:p>
        </p:txBody>
      </p:sp>
      <p:sp>
        <p:nvSpPr>
          <p:cNvPr id="53" name="Text 42"/>
          <p:cNvSpPr/>
          <p:nvPr/>
        </p:nvSpPr>
        <p:spPr>
          <a:xfrm>
            <a:off x="7388352" y="4498848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Réflexion · Demande · Assemblage</a:t>
            </a:r>
            <a:endParaRPr lang="en-US" sz="850" dirty="0"/>
          </a:p>
        </p:txBody>
      </p:sp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8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2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Synchronisation &amp; Prévention des Deadlocks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Stratégie d'ordre d'acquisition croissant — Condition de Coffman brisée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4187952" cy="3547872"/>
          </a:xfrm>
          <a:prstGeom prst="rect">
            <a:avLst/>
          </a:prstGeom>
          <a:solidFill>
            <a:srgbClr val="0B1535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353312"/>
            <a:ext cx="4187952" cy="438912"/>
          </a:xfrm>
          <a:prstGeom prst="rect">
            <a:avLst/>
          </a:prstGeom>
          <a:solidFill>
            <a:srgbClr val="1DB87A">
              <a:alpha val="85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292608" y="1353312"/>
            <a:ext cx="64008" cy="3547872"/>
          </a:xfrm>
          <a:prstGeom prst="rect">
            <a:avLst/>
          </a:prstGeom>
          <a:solidFill>
            <a:srgbClr val="1DB87A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38988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04672" y="1353312"/>
            <a:ext cx="354787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DB8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STRATÉGIE ANTI-DEADLOCK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38912" y="1865376"/>
            <a:ext cx="3913632" cy="1325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Deadlock possible 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Bras 1 détient O3, attend O7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Bras 2 détient O7, attend O3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 : acquérir les outils TOUJOURS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dans l'ordre croissant de leur identifiant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(brise la condition d'attente circulaire de Coffman).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84048" y="3273552"/>
            <a:ext cx="4005072" cy="1572768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84048" y="3273552"/>
            <a:ext cx="4005072" cy="256032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17" name="Shape 13"/>
          <p:cNvSpPr/>
          <p:nvPr/>
        </p:nvSpPr>
        <p:spPr>
          <a:xfrm>
            <a:off x="475488" y="3337560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18" name="Shape 14"/>
          <p:cNvSpPr/>
          <p:nvPr/>
        </p:nvSpPr>
        <p:spPr>
          <a:xfrm>
            <a:off x="612648" y="3337560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19" name="Shape 15"/>
          <p:cNvSpPr/>
          <p:nvPr/>
        </p:nvSpPr>
        <p:spPr>
          <a:xfrm>
            <a:off x="749808" y="3337560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20" name="Text 16"/>
          <p:cNvSpPr/>
          <p:nvPr/>
        </p:nvSpPr>
        <p:spPr>
          <a:xfrm>
            <a:off x="512064" y="358444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Anti-deadlock : toujours ordre croissant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12064" y="376732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(id1 &gt; id2) {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12064" y="395020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int tmp = id1;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12064" y="413308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id1 = id2; id2 = tmp; // Échanger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12064" y="431596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12064" y="449884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acquerir(id1, bras_id); // plus petit en 1er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12064" y="468172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acquerir(id2, bras_id); // puis le plus grand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736592" y="1353312"/>
            <a:ext cx="4114800" cy="3547872"/>
          </a:xfrm>
          <a:prstGeom prst="rect">
            <a:avLst/>
          </a:prstGeom>
          <a:solidFill>
            <a:srgbClr val="EEF2FA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736592" y="1353312"/>
            <a:ext cx="4114800" cy="438912"/>
          </a:xfrm>
          <a:prstGeom prst="rect">
            <a:avLst/>
          </a:prstGeom>
          <a:solidFill>
            <a:srgbClr val="0B1535"/>
          </a:solidFill>
        </p:spPr>
      </p:sp>
      <p:sp>
        <p:nvSpPr>
          <p:cNvPr id="29" name="Shape 25"/>
          <p:cNvSpPr/>
          <p:nvPr/>
        </p:nvSpPr>
        <p:spPr>
          <a:xfrm>
            <a:off x="4736592" y="1353312"/>
            <a:ext cx="64008" cy="354787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0" name="Text 26"/>
          <p:cNvSpPr/>
          <p:nvPr/>
        </p:nvSpPr>
        <p:spPr>
          <a:xfrm>
            <a:off x="4892040" y="1353312"/>
            <a:ext cx="38404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CYCLE DE VIE — BRAS ROBOTIQUE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4864608" y="1920240"/>
            <a:ext cx="530352" cy="530352"/>
          </a:xfrm>
          <a:prstGeom prst="ellipse">
            <a:avLst/>
          </a:prstGeom>
          <a:solidFill>
            <a:srgbClr val="C9A84C"/>
          </a:solidFill>
        </p:spPr>
      </p:sp>
      <p:sp>
        <p:nvSpPr>
          <p:cNvPr id="32" name="Text 28"/>
          <p:cNvSpPr/>
          <p:nvPr/>
        </p:nvSpPr>
        <p:spPr>
          <a:xfrm>
            <a:off x="4864608" y="192024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C1F"/>
                </a:solidFill>
              </a:rPr>
              <a:t>T1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5486400" y="1938528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Réflexion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>
            <a:off x="5486400" y="2212848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Attend 1-3 sec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Signale c_pret → Thread 2</a:t>
            </a:r>
            <a:endParaRPr lang="en-US" sz="1050" dirty="0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2450592"/>
            <a:ext cx="182880" cy="329184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4864608" y="2889504"/>
            <a:ext cx="530352" cy="530352"/>
          </a:xfrm>
          <a:prstGeom prst="ellipse">
            <a:avLst/>
          </a:prstGeom>
          <a:solidFill>
            <a:srgbClr val="1A7FAF"/>
          </a:solidFill>
        </p:spPr>
      </p:sp>
      <p:sp>
        <p:nvSpPr>
          <p:cNvPr id="37" name="Text 32"/>
          <p:cNvSpPr/>
          <p:nvPr/>
        </p:nvSpPr>
        <p:spPr>
          <a:xfrm>
            <a:off x="4864608" y="2889504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C1F"/>
                </a:solidFill>
              </a:rPr>
              <a:t>T2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5486400" y="2907792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Demande</a:t>
            </a:r>
            <a:endParaRPr lang="en-US" sz="1350" dirty="0"/>
          </a:p>
        </p:txBody>
      </p:sp>
      <p:sp>
        <p:nvSpPr>
          <p:cNvPr id="39" name="Text 34"/>
          <p:cNvSpPr/>
          <p:nvPr/>
        </p:nvSpPr>
        <p:spPr>
          <a:xfrm>
            <a:off x="5486400" y="318211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Choisit 2 outils aléatoires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Envoie DEMANDE TCP · Attend OK</a:t>
            </a:r>
            <a:endParaRPr lang="en-US" sz="1050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3419856"/>
            <a:ext cx="182880" cy="329184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4864608" y="3858768"/>
            <a:ext cx="530352" cy="530352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42" name="Text 36"/>
          <p:cNvSpPr/>
          <p:nvPr/>
        </p:nvSpPr>
        <p:spPr>
          <a:xfrm>
            <a:off x="4864608" y="3858768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0C1F"/>
                </a:solidFill>
              </a:rPr>
              <a:t>T3</a:t>
            </a:r>
            <a:endParaRPr lang="en-US" sz="1400" dirty="0"/>
          </a:p>
        </p:txBody>
      </p:sp>
      <p:sp>
        <p:nvSpPr>
          <p:cNvPr id="43" name="Text 37"/>
          <p:cNvSpPr/>
          <p:nvPr/>
        </p:nvSpPr>
        <p:spPr>
          <a:xfrm>
            <a:off x="5486400" y="3877056"/>
            <a:ext cx="3200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53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Assemblage</a:t>
            </a:r>
            <a:endParaRPr lang="en-US" sz="1350" dirty="0"/>
          </a:p>
        </p:txBody>
      </p:sp>
      <p:sp>
        <p:nvSpPr>
          <p:cNvPr id="44" name="Text 38"/>
          <p:cNvSpPr/>
          <p:nvPr/>
        </p:nvSpPr>
        <p:spPr>
          <a:xfrm>
            <a:off x="5486400" y="4151376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Travaille 2-4 sec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46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Libère outils · Signal fin → T1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4864608" y="4773168"/>
            <a:ext cx="3877056" cy="128016"/>
          </a:xfrm>
          <a:prstGeom prst="rect">
            <a:avLst/>
          </a:prstGeom>
          <a:solidFill>
            <a:srgbClr val="C9A84C">
              <a:alpha val="35000"/>
            </a:srgbClr>
          </a:solidFill>
        </p:spPr>
      </p:sp>
      <p:sp>
        <p:nvSpPr>
          <p:cNvPr id="46" name="Text 40"/>
          <p:cNvSpPr/>
          <p:nvPr/>
        </p:nvSpPr>
        <p:spPr>
          <a:xfrm>
            <a:off x="4864608" y="4681728"/>
            <a:ext cx="387705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⟲  Boucle infinie</a:t>
            </a:r>
            <a:endParaRPr lang="en-US" sz="1000" dirty="0"/>
          </a:p>
        </p:txBody>
      </p:sp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9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 d'Exécution — 1) Prérequis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Environnement : Kubuntu Linux | GCC + Make obligatoires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8558784" cy="384048"/>
          </a:xfrm>
          <a:prstGeom prst="rect">
            <a:avLst/>
          </a:prstGeom>
          <a:solidFill>
            <a:srgbClr val="C9A84C">
              <a:alpha val="85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292608" y="1353312"/>
            <a:ext cx="64008" cy="384048"/>
          </a:xfrm>
          <a:prstGeom prst="rect">
            <a:avLst/>
          </a:prstGeom>
          <a:solidFill>
            <a:srgbClr val="E8C97A"/>
          </a:solidFill>
        </p:spPr>
      </p:sp>
      <p:sp>
        <p:nvSpPr>
          <p:cNvPr id="11" name="Text 8"/>
          <p:cNvSpPr/>
          <p:nvPr/>
        </p:nvSpPr>
        <p:spPr>
          <a:xfrm>
            <a:off x="457200" y="1353312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80C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Avant de compiler le projet, s'assurer que GCC et Make sont installés :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92608" y="1883664"/>
            <a:ext cx="4133088" cy="685800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2608" y="1883664"/>
            <a:ext cx="4133088" cy="256032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14" name="Shape 11"/>
          <p:cNvSpPr/>
          <p:nvPr/>
        </p:nvSpPr>
        <p:spPr>
          <a:xfrm>
            <a:off x="384048" y="1947672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15" name="Shape 12"/>
          <p:cNvSpPr/>
          <p:nvPr/>
        </p:nvSpPr>
        <p:spPr>
          <a:xfrm>
            <a:off x="521208" y="1947672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16" name="Shape 13"/>
          <p:cNvSpPr/>
          <p:nvPr/>
        </p:nvSpPr>
        <p:spPr>
          <a:xfrm>
            <a:off x="658368" y="1947672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17" name="Text 14"/>
          <p:cNvSpPr/>
          <p:nvPr/>
        </p:nvSpPr>
        <p:spPr>
          <a:xfrm>
            <a:off x="420624" y="2194560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sudo apt update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84048" y="2715768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21" name="Shape 18"/>
          <p:cNvSpPr/>
          <p:nvPr/>
        </p:nvSpPr>
        <p:spPr>
          <a:xfrm>
            <a:off x="521208" y="2715768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22" name="Shape 19"/>
          <p:cNvSpPr/>
          <p:nvPr/>
        </p:nvSpPr>
        <p:spPr>
          <a:xfrm>
            <a:off x="658368" y="2715768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23" name="Text 20"/>
          <p:cNvSpPr/>
          <p:nvPr/>
        </p:nvSpPr>
        <p:spPr>
          <a:xfrm>
            <a:off x="420624" y="296265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92608" y="3401568"/>
            <a:ext cx="413308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Ces commandes mettent à jour les dépôts et installent le compilateur GCC ainsi que l'utilitaire Make, nécessaires pour compiler les programmes C du projet.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81728" y="1353312"/>
            <a:ext cx="4151376" cy="3547872"/>
          </a:xfrm>
          <a:prstGeom prst="rect">
            <a:avLst/>
          </a:prstGeom>
          <a:solidFill>
            <a:srgbClr val="122047"/>
          </a:solidFill>
          <a:ln w="19050">
            <a:solidFill>
              <a:srgbClr val="C9A84C"/>
            </a:solidFill>
            <a:prstDash val="solid"/>
          </a:ln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81728" y="1353312"/>
            <a:ext cx="4151376" cy="292608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27" name="Shape 24"/>
          <p:cNvSpPr/>
          <p:nvPr/>
        </p:nvSpPr>
        <p:spPr>
          <a:xfrm>
            <a:off x="4773168" y="1435608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28" name="Shape 25"/>
          <p:cNvSpPr/>
          <p:nvPr/>
        </p:nvSpPr>
        <p:spPr>
          <a:xfrm>
            <a:off x="4919472" y="1435608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29" name="Shape 26"/>
          <p:cNvSpPr/>
          <p:nvPr/>
        </p:nvSpPr>
        <p:spPr>
          <a:xfrm>
            <a:off x="5065776" y="1435608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30" name="Text 27"/>
          <p:cNvSpPr/>
          <p:nvPr/>
        </p:nvSpPr>
        <p:spPr>
          <a:xfrm>
            <a:off x="5248656" y="1353312"/>
            <a:ext cx="3511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— Konsole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846320" y="1773936"/>
            <a:ext cx="3822192" cy="2926080"/>
          </a:xfrm>
          <a:prstGeom prst="rect">
            <a:avLst/>
          </a:prstGeom>
          <a:solidFill>
            <a:srgbClr val="080C1F">
              <a:alpha val="70000"/>
            </a:srgbClr>
          </a:solidFill>
          <a:ln w="9525">
            <a:solidFill>
              <a:srgbClr val="C9A84C"/>
            </a:solidFill>
            <a:prstDash val="dashDot"/>
          </a:ln>
        </p:spPr>
      </p:sp>
      <p:sp>
        <p:nvSpPr>
          <p:cNvPr id="32" name="Text 29"/>
          <p:cNvSpPr/>
          <p:nvPr/>
        </p:nvSpPr>
        <p:spPr>
          <a:xfrm>
            <a:off x="6391656" y="2807208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4846320" y="3172968"/>
            <a:ext cx="38221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: sortie terminal apt update &amp; apt install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846320" y="3511296"/>
            <a:ext cx="38221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Insérer la capture d'écran ici ]</a:t>
            </a:r>
            <a:endParaRPr lang="en-US" sz="800" dirty="0"/>
          </a:p>
        </p:txBody>
      </p:sp>
      <p:pic>
        <p:nvPicPr>
          <p:cNvPr id="36" name="Imag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450" y="1787525"/>
            <a:ext cx="3796665" cy="291592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10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 d'Exécution — 1) Prérequis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Environnement : Kubuntu Linux | GCC + Make obligatoires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8558784" cy="384048"/>
          </a:xfrm>
          <a:prstGeom prst="rect">
            <a:avLst/>
          </a:prstGeom>
          <a:solidFill>
            <a:srgbClr val="C9A84C">
              <a:alpha val="85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292608" y="1353312"/>
            <a:ext cx="64008" cy="384048"/>
          </a:xfrm>
          <a:prstGeom prst="rect">
            <a:avLst/>
          </a:prstGeom>
          <a:solidFill>
            <a:srgbClr val="E8C97A"/>
          </a:solidFill>
        </p:spPr>
      </p:sp>
      <p:sp>
        <p:nvSpPr>
          <p:cNvPr id="11" name="Text 8"/>
          <p:cNvSpPr/>
          <p:nvPr/>
        </p:nvSpPr>
        <p:spPr>
          <a:xfrm>
            <a:off x="457200" y="1353312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80C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Avant de compiler le projet, s'assurer que GCC et Make sont installés :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92608" y="1883664"/>
            <a:ext cx="4133088" cy="685800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84048" y="1947672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15" name="Shape 12"/>
          <p:cNvSpPr/>
          <p:nvPr/>
        </p:nvSpPr>
        <p:spPr>
          <a:xfrm>
            <a:off x="521208" y="1947672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16" name="Shape 13"/>
          <p:cNvSpPr/>
          <p:nvPr/>
        </p:nvSpPr>
        <p:spPr>
          <a:xfrm>
            <a:off x="658368" y="1947672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18" name="Shape 15"/>
          <p:cNvSpPr/>
          <p:nvPr/>
        </p:nvSpPr>
        <p:spPr>
          <a:xfrm>
            <a:off x="292608" y="2038985"/>
            <a:ext cx="4133088" cy="685800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9913" y="2157730"/>
            <a:ext cx="4133088" cy="256032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20" name="Shape 17"/>
          <p:cNvSpPr/>
          <p:nvPr/>
        </p:nvSpPr>
        <p:spPr>
          <a:xfrm>
            <a:off x="384048" y="2715768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21" name="Shape 18"/>
          <p:cNvSpPr/>
          <p:nvPr/>
        </p:nvSpPr>
        <p:spPr>
          <a:xfrm>
            <a:off x="521208" y="2715768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22" name="Shape 19"/>
          <p:cNvSpPr/>
          <p:nvPr/>
        </p:nvSpPr>
        <p:spPr>
          <a:xfrm>
            <a:off x="658368" y="2715768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23" name="Text 20"/>
          <p:cNvSpPr/>
          <p:nvPr/>
        </p:nvSpPr>
        <p:spPr>
          <a:xfrm>
            <a:off x="384429" y="2184781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sudo apt install -y gcc make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92608" y="3401568"/>
            <a:ext cx="4133088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Ces commandes mettent à jour les dépôts et installent le compilateur GCC ainsi que l'utilitaire Make, nécessaires pour compiler les programmes C du projet.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81728" y="1353312"/>
            <a:ext cx="4151376" cy="3547872"/>
          </a:xfrm>
          <a:prstGeom prst="rect">
            <a:avLst/>
          </a:prstGeom>
          <a:solidFill>
            <a:srgbClr val="122047"/>
          </a:solidFill>
          <a:ln w="19050">
            <a:solidFill>
              <a:srgbClr val="C9A84C"/>
            </a:solidFill>
            <a:prstDash val="solid"/>
          </a:ln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81728" y="1353312"/>
            <a:ext cx="4151376" cy="292608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27" name="Shape 24"/>
          <p:cNvSpPr/>
          <p:nvPr/>
        </p:nvSpPr>
        <p:spPr>
          <a:xfrm>
            <a:off x="4773168" y="1435608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28" name="Shape 25"/>
          <p:cNvSpPr/>
          <p:nvPr/>
        </p:nvSpPr>
        <p:spPr>
          <a:xfrm>
            <a:off x="4919472" y="1435608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29" name="Shape 26"/>
          <p:cNvSpPr/>
          <p:nvPr/>
        </p:nvSpPr>
        <p:spPr>
          <a:xfrm>
            <a:off x="5065776" y="1435608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30" name="Text 27"/>
          <p:cNvSpPr/>
          <p:nvPr/>
        </p:nvSpPr>
        <p:spPr>
          <a:xfrm>
            <a:off x="5248656" y="1353312"/>
            <a:ext cx="3511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— Konsole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846320" y="1773936"/>
            <a:ext cx="3822192" cy="2926080"/>
          </a:xfrm>
          <a:prstGeom prst="rect">
            <a:avLst/>
          </a:prstGeom>
          <a:solidFill>
            <a:srgbClr val="080C1F">
              <a:alpha val="70000"/>
            </a:srgbClr>
          </a:solidFill>
          <a:ln w="9525">
            <a:solidFill>
              <a:srgbClr val="C9A84C"/>
            </a:solidFill>
            <a:prstDash val="dashDot"/>
          </a:ln>
        </p:spPr>
      </p:sp>
      <p:sp>
        <p:nvSpPr>
          <p:cNvPr id="32" name="Text 29"/>
          <p:cNvSpPr/>
          <p:nvPr/>
        </p:nvSpPr>
        <p:spPr>
          <a:xfrm>
            <a:off x="6391656" y="2807208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4846320" y="3172968"/>
            <a:ext cx="38221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: sortie terminal apt update &amp; apt install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846320" y="3511296"/>
            <a:ext cx="38221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Insérer la capture d'écran ici ]</a:t>
            </a:r>
            <a:endParaRPr lang="en-US" sz="800" dirty="0"/>
          </a:p>
        </p:txBody>
      </p:sp>
      <p:pic>
        <p:nvPicPr>
          <p:cNvPr id="35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735" y="2569210"/>
            <a:ext cx="3783330" cy="1274445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11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 d'Exécution — 2) Compilation &amp; Exécution Partie 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Ordonnanceur de processus | Fichier unique : ordo.c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8558784" cy="384048"/>
          </a:xfrm>
          <a:prstGeom prst="rect">
            <a:avLst/>
          </a:prstGeom>
          <a:solidFill>
            <a:srgbClr val="C9A84C">
              <a:alpha val="85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292608" y="1353312"/>
            <a:ext cx="64008" cy="384048"/>
          </a:xfrm>
          <a:prstGeom prst="rect">
            <a:avLst/>
          </a:prstGeom>
          <a:solidFill>
            <a:srgbClr val="E8C97A"/>
          </a:solidFill>
        </p:spPr>
      </p:sp>
      <p:sp>
        <p:nvSpPr>
          <p:cNvPr id="11" name="Text 8"/>
          <p:cNvSpPr/>
          <p:nvPr/>
        </p:nvSpPr>
        <p:spPr>
          <a:xfrm>
            <a:off x="457200" y="1353312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80C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Partie 1 se compile et s'exécute avec deux commandes seulement :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92608" y="1874520"/>
            <a:ext cx="4133088" cy="1572768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2608" y="1874520"/>
            <a:ext cx="4133088" cy="256032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14" name="Shape 11"/>
          <p:cNvSpPr/>
          <p:nvPr/>
        </p:nvSpPr>
        <p:spPr>
          <a:xfrm>
            <a:off x="384048" y="1938528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15" name="Shape 12"/>
          <p:cNvSpPr/>
          <p:nvPr/>
        </p:nvSpPr>
        <p:spPr>
          <a:xfrm>
            <a:off x="521208" y="1938528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16" name="Shape 13"/>
          <p:cNvSpPr/>
          <p:nvPr/>
        </p:nvSpPr>
        <p:spPr>
          <a:xfrm>
            <a:off x="658368" y="1938528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17" name="Text 14"/>
          <p:cNvSpPr/>
          <p:nvPr/>
        </p:nvSpPr>
        <p:spPr>
          <a:xfrm>
            <a:off x="420624" y="218541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1. Se placer dans le dossier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20624" y="236829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~/Downloads/projet_SE/ordonnanceur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20624" y="255117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20624" y="273405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2. Compiler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20624" y="291693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gcc -o ordo ordo.c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20624" y="309981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20624" y="328269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3. Exécuter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20624" y="346557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./ordo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92608" y="3529584"/>
            <a:ext cx="4133088" cy="1371600"/>
          </a:xfrm>
          <a:prstGeom prst="rect">
            <a:avLst/>
          </a:prstGeom>
          <a:solidFill>
            <a:srgbClr val="122047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92608" y="3529584"/>
            <a:ext cx="64008" cy="13716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7" name="Text 24"/>
          <p:cNvSpPr/>
          <p:nvPr/>
        </p:nvSpPr>
        <p:spPr>
          <a:xfrm>
            <a:off x="457200" y="356616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menu interactif s'affiche avec 4 options :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02920" y="3895344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→ FIFO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828800" y="389534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Premier arrivé, premier servi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02920" y="415137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→ SJF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828800" y="415137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Plus court en premier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02920" y="440740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→ Round Robin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828800" y="440740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= 3 ticks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02920" y="4663440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→ Toutes les politiques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828800" y="466344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(recommandé pour comparer)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681728" y="1353312"/>
            <a:ext cx="4151376" cy="3547872"/>
          </a:xfrm>
          <a:prstGeom prst="rect">
            <a:avLst/>
          </a:prstGeom>
          <a:solidFill>
            <a:srgbClr val="122047"/>
          </a:solidFill>
          <a:ln w="19050">
            <a:solidFill>
              <a:srgbClr val="C9A84C"/>
            </a:solidFill>
            <a:prstDash val="solid"/>
          </a:ln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681728" y="1353312"/>
            <a:ext cx="4151376" cy="292608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38" name="Shape 35"/>
          <p:cNvSpPr/>
          <p:nvPr/>
        </p:nvSpPr>
        <p:spPr>
          <a:xfrm>
            <a:off x="4773168" y="1435608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39" name="Shape 36"/>
          <p:cNvSpPr/>
          <p:nvPr/>
        </p:nvSpPr>
        <p:spPr>
          <a:xfrm>
            <a:off x="4919472" y="1435608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40" name="Shape 37"/>
          <p:cNvSpPr/>
          <p:nvPr/>
        </p:nvSpPr>
        <p:spPr>
          <a:xfrm>
            <a:off x="5065776" y="1435608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41" name="Text 38"/>
          <p:cNvSpPr/>
          <p:nvPr/>
        </p:nvSpPr>
        <p:spPr>
          <a:xfrm>
            <a:off x="5248656" y="1353312"/>
            <a:ext cx="3511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— Konsole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846320" y="1773936"/>
            <a:ext cx="3822192" cy="2926080"/>
          </a:xfrm>
          <a:prstGeom prst="rect">
            <a:avLst/>
          </a:prstGeom>
          <a:solidFill>
            <a:srgbClr val="080C1F">
              <a:alpha val="70000"/>
            </a:srgbClr>
          </a:solidFill>
          <a:ln w="9525">
            <a:solidFill>
              <a:srgbClr val="C9A84C"/>
            </a:solidFill>
            <a:prstDash val="dashDot"/>
          </a:ln>
        </p:spPr>
      </p:sp>
      <p:sp>
        <p:nvSpPr>
          <p:cNvPr id="43" name="Text 40"/>
          <p:cNvSpPr/>
          <p:nvPr/>
        </p:nvSpPr>
        <p:spPr>
          <a:xfrm>
            <a:off x="6391656" y="2807208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4846320" y="3172968"/>
            <a:ext cx="38221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: menu interactif + simulation FIFO/SJF/RR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4846320" y="3511296"/>
            <a:ext cx="38221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Insérer la capture d'écran ici ]</a:t>
            </a:r>
            <a:endParaRPr lang="en-US" sz="800" dirty="0"/>
          </a:p>
        </p:txBody>
      </p:sp>
      <p:pic>
        <p:nvPicPr>
          <p:cNvPr id="4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9180" y="1780540"/>
            <a:ext cx="3833495" cy="2920365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12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 d'Exécution — 2) Compilation &amp; Exécution Partie 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Ordonnanceur de processus | Fichier unique : ordo.c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8558784" cy="384048"/>
          </a:xfrm>
          <a:prstGeom prst="rect">
            <a:avLst/>
          </a:prstGeom>
          <a:solidFill>
            <a:srgbClr val="C9A84C">
              <a:alpha val="85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292608" y="1353312"/>
            <a:ext cx="64008" cy="384048"/>
          </a:xfrm>
          <a:prstGeom prst="rect">
            <a:avLst/>
          </a:prstGeom>
          <a:solidFill>
            <a:srgbClr val="E8C97A"/>
          </a:solidFill>
        </p:spPr>
      </p:sp>
      <p:sp>
        <p:nvSpPr>
          <p:cNvPr id="11" name="Text 8"/>
          <p:cNvSpPr/>
          <p:nvPr/>
        </p:nvSpPr>
        <p:spPr>
          <a:xfrm>
            <a:off x="457200" y="1353312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80C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Partie 1 se compile et s'exécute avec deux commandes seulement :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92608" y="1874520"/>
            <a:ext cx="4133088" cy="1572768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2608" y="1874520"/>
            <a:ext cx="4133088" cy="256032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14" name="Shape 11"/>
          <p:cNvSpPr/>
          <p:nvPr/>
        </p:nvSpPr>
        <p:spPr>
          <a:xfrm>
            <a:off x="384048" y="1938528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15" name="Shape 12"/>
          <p:cNvSpPr/>
          <p:nvPr/>
        </p:nvSpPr>
        <p:spPr>
          <a:xfrm>
            <a:off x="521208" y="1938528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16" name="Shape 13"/>
          <p:cNvSpPr/>
          <p:nvPr/>
        </p:nvSpPr>
        <p:spPr>
          <a:xfrm>
            <a:off x="658368" y="1938528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17" name="Text 14"/>
          <p:cNvSpPr/>
          <p:nvPr/>
        </p:nvSpPr>
        <p:spPr>
          <a:xfrm>
            <a:off x="420624" y="218541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1. Se placer dans le dossier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20624" y="236829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~/Downloads/projet_SE/ordonnanceur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20624" y="255117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20624" y="273405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2. Compiler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20624" y="291693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gcc -o ordo ordo.c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20624" y="309981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20624" y="328269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3. Exécuter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20624" y="346557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./ordo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92608" y="3529584"/>
            <a:ext cx="4133088" cy="1371600"/>
          </a:xfrm>
          <a:prstGeom prst="rect">
            <a:avLst/>
          </a:prstGeom>
          <a:solidFill>
            <a:srgbClr val="122047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92608" y="3529584"/>
            <a:ext cx="64008" cy="13716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7" name="Text 24"/>
          <p:cNvSpPr/>
          <p:nvPr/>
        </p:nvSpPr>
        <p:spPr>
          <a:xfrm>
            <a:off x="457200" y="356616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menu interactif s'affiche avec 4 options :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02920" y="3895344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→ FIFO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828800" y="389534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Premier arrivé, premier servi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02920" y="415137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→ SJF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828800" y="415137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Plus court en premier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02920" y="440740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→ Round Robin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828800" y="440740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= 3 ticks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02920" y="4663440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→ Toutes les politiques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828800" y="466344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(recommandé pour comparer)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681728" y="1353312"/>
            <a:ext cx="4151376" cy="3547872"/>
          </a:xfrm>
          <a:prstGeom prst="rect">
            <a:avLst/>
          </a:prstGeom>
          <a:solidFill>
            <a:srgbClr val="122047"/>
          </a:solidFill>
          <a:ln w="19050">
            <a:solidFill>
              <a:srgbClr val="C9A84C"/>
            </a:solidFill>
            <a:prstDash val="solid"/>
          </a:ln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681728" y="1353312"/>
            <a:ext cx="4151376" cy="292608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38" name="Shape 35"/>
          <p:cNvSpPr/>
          <p:nvPr/>
        </p:nvSpPr>
        <p:spPr>
          <a:xfrm>
            <a:off x="4773168" y="1435608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39" name="Shape 36"/>
          <p:cNvSpPr/>
          <p:nvPr/>
        </p:nvSpPr>
        <p:spPr>
          <a:xfrm>
            <a:off x="4919472" y="1435608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40" name="Shape 37"/>
          <p:cNvSpPr/>
          <p:nvPr/>
        </p:nvSpPr>
        <p:spPr>
          <a:xfrm>
            <a:off x="5065776" y="1435608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41" name="Text 38"/>
          <p:cNvSpPr/>
          <p:nvPr/>
        </p:nvSpPr>
        <p:spPr>
          <a:xfrm>
            <a:off x="5248656" y="1353312"/>
            <a:ext cx="3511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— Konsole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846320" y="1773936"/>
            <a:ext cx="3822192" cy="2926080"/>
          </a:xfrm>
          <a:prstGeom prst="rect">
            <a:avLst/>
          </a:prstGeom>
          <a:solidFill>
            <a:srgbClr val="080C1F">
              <a:alpha val="70000"/>
            </a:srgbClr>
          </a:solidFill>
          <a:ln w="9525">
            <a:solidFill>
              <a:srgbClr val="C9A84C"/>
            </a:solidFill>
            <a:prstDash val="dashDot"/>
          </a:ln>
        </p:spPr>
      </p:sp>
      <p:sp>
        <p:nvSpPr>
          <p:cNvPr id="43" name="Text 40"/>
          <p:cNvSpPr/>
          <p:nvPr/>
        </p:nvSpPr>
        <p:spPr>
          <a:xfrm>
            <a:off x="6391656" y="2807208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4846320" y="3172968"/>
            <a:ext cx="38221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: menu interactif + simulation FIFO/SJF/RR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4846320" y="3511296"/>
            <a:ext cx="38221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Insérer la capture d'écran ici ]</a:t>
            </a:r>
            <a:endParaRPr lang="en-US" sz="800" dirty="0"/>
          </a:p>
        </p:txBody>
      </p:sp>
      <p:pic>
        <p:nvPicPr>
          <p:cNvPr id="4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930" y="1737360"/>
            <a:ext cx="3897630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13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 d'Exécution — 2) Compilation &amp; Exécution Partie 1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Ordonnanceur de processus | Fichier unique : ordo.c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8558784" cy="384048"/>
          </a:xfrm>
          <a:prstGeom prst="rect">
            <a:avLst/>
          </a:prstGeom>
          <a:solidFill>
            <a:srgbClr val="C9A84C">
              <a:alpha val="85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292608" y="1353312"/>
            <a:ext cx="64008" cy="384048"/>
          </a:xfrm>
          <a:prstGeom prst="rect">
            <a:avLst/>
          </a:prstGeom>
          <a:solidFill>
            <a:srgbClr val="E8C97A"/>
          </a:solidFill>
        </p:spPr>
      </p:sp>
      <p:sp>
        <p:nvSpPr>
          <p:cNvPr id="11" name="Text 8"/>
          <p:cNvSpPr/>
          <p:nvPr/>
        </p:nvSpPr>
        <p:spPr>
          <a:xfrm>
            <a:off x="457200" y="1353312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80C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Partie 1 se compile et s'exécute avec deux commandes seulement :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92608" y="1874520"/>
            <a:ext cx="4133088" cy="1572768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2608" y="1874520"/>
            <a:ext cx="4133088" cy="256032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14" name="Shape 11"/>
          <p:cNvSpPr/>
          <p:nvPr/>
        </p:nvSpPr>
        <p:spPr>
          <a:xfrm>
            <a:off x="384048" y="1938528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15" name="Shape 12"/>
          <p:cNvSpPr/>
          <p:nvPr/>
        </p:nvSpPr>
        <p:spPr>
          <a:xfrm>
            <a:off x="521208" y="1938528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16" name="Shape 13"/>
          <p:cNvSpPr/>
          <p:nvPr/>
        </p:nvSpPr>
        <p:spPr>
          <a:xfrm>
            <a:off x="658368" y="1938528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17" name="Text 14"/>
          <p:cNvSpPr/>
          <p:nvPr/>
        </p:nvSpPr>
        <p:spPr>
          <a:xfrm>
            <a:off x="420624" y="218541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1. Se placer dans le dossier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20624" y="236829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~/Downloads/projet_SE/ordonnanceur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20624" y="255117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20624" y="273405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2. Compiler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20624" y="291693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gcc -o ordo ordo.c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20624" y="309981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20624" y="328269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3. Exécuter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20624" y="346557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./ordo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92608" y="3529584"/>
            <a:ext cx="4133088" cy="1371600"/>
          </a:xfrm>
          <a:prstGeom prst="rect">
            <a:avLst/>
          </a:prstGeom>
          <a:solidFill>
            <a:srgbClr val="122047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92608" y="3529584"/>
            <a:ext cx="64008" cy="137160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7" name="Text 24"/>
          <p:cNvSpPr/>
          <p:nvPr/>
        </p:nvSpPr>
        <p:spPr>
          <a:xfrm>
            <a:off x="457200" y="3566160"/>
            <a:ext cx="38404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menu interactif s'affiche avec 4 options :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02920" y="3895344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→ FIFO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828800" y="3895344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Premier arrivé, premier servi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02920" y="4151376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→ SJF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828800" y="4151376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Plus court en premier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502920" y="440740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→ Round Robin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1828800" y="4407408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Quantum = 3 ticks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02920" y="4663440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→ Toutes les politiques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1828800" y="4663440"/>
            <a:ext cx="246888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(recommandé pour comparer)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681728" y="1353312"/>
            <a:ext cx="4151376" cy="3547872"/>
          </a:xfrm>
          <a:prstGeom prst="rect">
            <a:avLst/>
          </a:prstGeom>
          <a:solidFill>
            <a:srgbClr val="122047"/>
          </a:solidFill>
          <a:ln w="19050">
            <a:solidFill>
              <a:srgbClr val="C9A84C"/>
            </a:solidFill>
            <a:prstDash val="solid"/>
          </a:ln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681728" y="1353312"/>
            <a:ext cx="4151376" cy="292608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38" name="Shape 35"/>
          <p:cNvSpPr/>
          <p:nvPr/>
        </p:nvSpPr>
        <p:spPr>
          <a:xfrm>
            <a:off x="4773168" y="1435608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39" name="Shape 36"/>
          <p:cNvSpPr/>
          <p:nvPr/>
        </p:nvSpPr>
        <p:spPr>
          <a:xfrm>
            <a:off x="4919472" y="1435608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40" name="Shape 37"/>
          <p:cNvSpPr/>
          <p:nvPr/>
        </p:nvSpPr>
        <p:spPr>
          <a:xfrm>
            <a:off x="5065776" y="1435608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41" name="Text 38"/>
          <p:cNvSpPr/>
          <p:nvPr/>
        </p:nvSpPr>
        <p:spPr>
          <a:xfrm>
            <a:off x="5248656" y="1353312"/>
            <a:ext cx="3511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— Konsole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846320" y="1773936"/>
            <a:ext cx="3822192" cy="2926080"/>
          </a:xfrm>
          <a:prstGeom prst="rect">
            <a:avLst/>
          </a:prstGeom>
          <a:solidFill>
            <a:srgbClr val="080C1F">
              <a:alpha val="70000"/>
            </a:srgbClr>
          </a:solidFill>
          <a:ln w="9525">
            <a:solidFill>
              <a:srgbClr val="C9A84C"/>
            </a:solidFill>
            <a:prstDash val="dashDot"/>
          </a:ln>
        </p:spPr>
      </p:sp>
      <p:sp>
        <p:nvSpPr>
          <p:cNvPr id="43" name="Text 40"/>
          <p:cNvSpPr/>
          <p:nvPr/>
        </p:nvSpPr>
        <p:spPr>
          <a:xfrm>
            <a:off x="6391656" y="2807208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4846320" y="3172968"/>
            <a:ext cx="38221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: menu interactif + simulation FIFO/SJF/RR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4846320" y="3511296"/>
            <a:ext cx="38221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Insérer la capture d'écran ici ]</a:t>
            </a:r>
            <a:endParaRPr lang="en-US" sz="800" dirty="0"/>
          </a:p>
        </p:txBody>
      </p:sp>
      <p:pic>
        <p:nvPicPr>
          <p:cNvPr id="47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955" y="1774825"/>
            <a:ext cx="3821430" cy="2869565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14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 d'Exécution — 3a) Compiler les Deux Programmes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Partie 2 : Entrepôt Intelligent | Deux terminaux nécessaires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8558784" cy="384048"/>
          </a:xfrm>
          <a:prstGeom prst="rect">
            <a:avLst/>
          </a:prstGeom>
          <a:solidFill>
            <a:srgbClr val="C9A84C">
              <a:alpha val="85000"/>
            </a:srgbClr>
          </a:solidFill>
        </p:spPr>
      </p:sp>
      <p:sp>
        <p:nvSpPr>
          <p:cNvPr id="10" name="Shape 7"/>
          <p:cNvSpPr/>
          <p:nvPr/>
        </p:nvSpPr>
        <p:spPr>
          <a:xfrm>
            <a:off x="292608" y="1353312"/>
            <a:ext cx="64008" cy="384048"/>
          </a:xfrm>
          <a:prstGeom prst="rect">
            <a:avLst/>
          </a:prstGeom>
          <a:solidFill>
            <a:srgbClr val="E8C97A"/>
          </a:solidFill>
        </p:spPr>
      </p:sp>
      <p:sp>
        <p:nvSpPr>
          <p:cNvPr id="11" name="Text 8"/>
          <p:cNvSpPr/>
          <p:nvPr/>
        </p:nvSpPr>
        <p:spPr>
          <a:xfrm>
            <a:off x="457200" y="1353312"/>
            <a:ext cx="837590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80C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Partie 2 nécessite deux terminaux ouverts simultanément. Le serveur doit être lancé en premier.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92608" y="1874520"/>
            <a:ext cx="4133088" cy="1170432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2608" y="1874520"/>
            <a:ext cx="4133088" cy="256032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14" name="Shape 11"/>
          <p:cNvSpPr/>
          <p:nvPr/>
        </p:nvSpPr>
        <p:spPr>
          <a:xfrm>
            <a:off x="384048" y="1938528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15" name="Shape 12"/>
          <p:cNvSpPr/>
          <p:nvPr/>
        </p:nvSpPr>
        <p:spPr>
          <a:xfrm>
            <a:off x="521208" y="1938528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16" name="Shape 13"/>
          <p:cNvSpPr/>
          <p:nvPr/>
        </p:nvSpPr>
        <p:spPr>
          <a:xfrm>
            <a:off x="658368" y="1938528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17" name="Text 14"/>
          <p:cNvSpPr/>
          <p:nvPr/>
        </p:nvSpPr>
        <p:spPr>
          <a:xfrm>
            <a:off x="420624" y="218541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Compiler le serveur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20624" y="236829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~/Downloads/projet_SE/entrepot/serveur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20624" y="2551176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gcc -o serveur serveur.c -lpthread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92608" y="3127248"/>
            <a:ext cx="4133088" cy="1170432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92608" y="3127248"/>
            <a:ext cx="4133088" cy="256032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22" name="Shape 19"/>
          <p:cNvSpPr/>
          <p:nvPr/>
        </p:nvSpPr>
        <p:spPr>
          <a:xfrm>
            <a:off x="384048" y="3191256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23" name="Shape 20"/>
          <p:cNvSpPr/>
          <p:nvPr/>
        </p:nvSpPr>
        <p:spPr>
          <a:xfrm>
            <a:off x="521208" y="3191256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24" name="Shape 21"/>
          <p:cNvSpPr/>
          <p:nvPr/>
        </p:nvSpPr>
        <p:spPr>
          <a:xfrm>
            <a:off x="658368" y="3191256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25" name="Text 22"/>
          <p:cNvSpPr/>
          <p:nvPr/>
        </p:nvSpPr>
        <p:spPr>
          <a:xfrm>
            <a:off x="420624" y="3438144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Compiler le bras robotique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20624" y="3621024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~/Downloads/projet_SE/entrepot/client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20624" y="3803904"/>
            <a:ext cx="395020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gcc -o bras bras.c -lpthread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92608" y="4370832"/>
            <a:ext cx="4133088" cy="548640"/>
          </a:xfrm>
          <a:prstGeom prst="rect">
            <a:avLst/>
          </a:prstGeom>
          <a:solidFill>
            <a:srgbClr val="122047"/>
          </a:solidFill>
        </p:spPr>
      </p:sp>
      <p:sp>
        <p:nvSpPr>
          <p:cNvPr id="29" name="Shape 26"/>
          <p:cNvSpPr/>
          <p:nvPr/>
        </p:nvSpPr>
        <p:spPr>
          <a:xfrm>
            <a:off x="292608" y="4370832"/>
            <a:ext cx="64008" cy="548640"/>
          </a:xfrm>
          <a:prstGeom prst="rect">
            <a:avLst/>
          </a:prstGeom>
          <a:solidFill>
            <a:srgbClr val="E89830"/>
          </a:solidFill>
        </p:spPr>
      </p:sp>
      <p:sp>
        <p:nvSpPr>
          <p:cNvPr id="30" name="Text 27"/>
          <p:cNvSpPr/>
          <p:nvPr/>
        </p:nvSpPr>
        <p:spPr>
          <a:xfrm>
            <a:off x="457200" y="4370832"/>
            <a:ext cx="3858768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98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  L'option -lpthread est obligatoire — elle lie la bibliothèque POSIX threads (pthreads) nécessaire pour la gestion des threads.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681728" y="1353312"/>
            <a:ext cx="4151376" cy="3547872"/>
          </a:xfrm>
          <a:prstGeom prst="rect">
            <a:avLst/>
          </a:prstGeom>
          <a:solidFill>
            <a:srgbClr val="122047"/>
          </a:solidFill>
          <a:ln w="19050">
            <a:solidFill>
              <a:srgbClr val="C9A84C"/>
            </a:solidFill>
            <a:prstDash val="solid"/>
          </a:ln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681728" y="1353312"/>
            <a:ext cx="4151376" cy="292608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33" name="Shape 30"/>
          <p:cNvSpPr/>
          <p:nvPr/>
        </p:nvSpPr>
        <p:spPr>
          <a:xfrm>
            <a:off x="4773168" y="1435608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34" name="Shape 31"/>
          <p:cNvSpPr/>
          <p:nvPr/>
        </p:nvSpPr>
        <p:spPr>
          <a:xfrm>
            <a:off x="4919472" y="1435608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35" name="Shape 32"/>
          <p:cNvSpPr/>
          <p:nvPr/>
        </p:nvSpPr>
        <p:spPr>
          <a:xfrm>
            <a:off x="5065776" y="1435608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36" name="Text 33"/>
          <p:cNvSpPr/>
          <p:nvPr/>
        </p:nvSpPr>
        <p:spPr>
          <a:xfrm>
            <a:off x="5248656" y="1353312"/>
            <a:ext cx="3511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— Konsole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846320" y="1774190"/>
            <a:ext cx="3814445" cy="2926080"/>
          </a:xfrm>
          <a:prstGeom prst="rect">
            <a:avLst/>
          </a:prstGeom>
          <a:solidFill>
            <a:srgbClr val="080C1F">
              <a:alpha val="70000"/>
            </a:srgbClr>
          </a:solidFill>
          <a:ln w="9525">
            <a:solidFill>
              <a:srgbClr val="C9A84C"/>
            </a:solidFill>
            <a:prstDash val="dashDot"/>
          </a:ln>
        </p:spPr>
      </p:sp>
      <p:sp>
        <p:nvSpPr>
          <p:cNvPr id="38" name="Text 35"/>
          <p:cNvSpPr/>
          <p:nvPr/>
        </p:nvSpPr>
        <p:spPr>
          <a:xfrm>
            <a:off x="6391656" y="2807208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4846320" y="3172968"/>
            <a:ext cx="38221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: compilation serveur.c et bras.c avec -lpthread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3511296"/>
            <a:ext cx="38221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Insérer la capture d'écran ici ]</a:t>
            </a:r>
            <a:endParaRPr lang="en-US" sz="800" dirty="0"/>
          </a:p>
        </p:txBody>
      </p:sp>
      <p:pic>
        <p:nvPicPr>
          <p:cNvPr id="42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030" y="2948305"/>
            <a:ext cx="3544570" cy="78359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15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 d'Exécution — 3b &amp; 3c) Lancement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1 : Serveur en attente | Terminal 2 : Bras robotiques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4133088" cy="1691640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353312"/>
            <a:ext cx="4133088" cy="365760"/>
          </a:xfrm>
          <a:prstGeom prst="rect">
            <a:avLst/>
          </a:prstGeom>
          <a:solidFill>
            <a:srgbClr val="1A7FAF">
              <a:alpha val="80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292608" y="1353312"/>
            <a:ext cx="64008" cy="1691640"/>
          </a:xfrm>
          <a:prstGeom prst="rect">
            <a:avLst/>
          </a:prstGeom>
          <a:solidFill>
            <a:srgbClr val="1A7FAF"/>
          </a:solidFill>
        </p:spPr>
      </p:sp>
      <p:sp>
        <p:nvSpPr>
          <p:cNvPr id="12" name="Text 9"/>
          <p:cNvSpPr/>
          <p:nvPr/>
        </p:nvSpPr>
        <p:spPr>
          <a:xfrm>
            <a:off x="457200" y="135331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1 — Serveur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7472" y="1792224"/>
            <a:ext cx="4005072" cy="1152144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" y="1792224"/>
            <a:ext cx="4005072" cy="256032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15" name="Shape 12"/>
          <p:cNvSpPr/>
          <p:nvPr/>
        </p:nvSpPr>
        <p:spPr>
          <a:xfrm>
            <a:off x="438912" y="1856232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16" name="Shape 13"/>
          <p:cNvSpPr/>
          <p:nvPr/>
        </p:nvSpPr>
        <p:spPr>
          <a:xfrm>
            <a:off x="576072" y="1856232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17" name="Shape 14"/>
          <p:cNvSpPr/>
          <p:nvPr/>
        </p:nvSpPr>
        <p:spPr>
          <a:xfrm>
            <a:off x="713232" y="1856232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18" name="Text 15"/>
          <p:cNvSpPr/>
          <p:nvPr/>
        </p:nvSpPr>
        <p:spPr>
          <a:xfrm>
            <a:off x="475488" y="2103120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~/Downloads/projet_SE/entrepot/serveur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5488" y="2286000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./serveur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5488" y="2468880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5488" y="2651760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Le serveur démarre et attend les bras...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92608" y="3154680"/>
            <a:ext cx="4133088" cy="1755648"/>
          </a:xfrm>
          <a:prstGeom prst="rect">
            <a:avLst/>
          </a:prstGeom>
          <a:solidFill>
            <a:srgbClr val="122047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92608" y="3154680"/>
            <a:ext cx="4133088" cy="365760"/>
          </a:xfrm>
          <a:prstGeom prst="rect">
            <a:avLst/>
          </a:prstGeom>
          <a:solidFill>
            <a:srgbClr val="1DB87A">
              <a:alpha val="80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292608" y="3154680"/>
            <a:ext cx="64008" cy="1755648"/>
          </a:xfrm>
          <a:prstGeom prst="rect">
            <a:avLst/>
          </a:prstGeom>
          <a:solidFill>
            <a:srgbClr val="1DB87A"/>
          </a:solidFill>
        </p:spPr>
      </p:sp>
      <p:sp>
        <p:nvSpPr>
          <p:cNvPr id="25" name="Text 22"/>
          <p:cNvSpPr/>
          <p:nvPr/>
        </p:nvSpPr>
        <p:spPr>
          <a:xfrm>
            <a:off x="457200" y="31546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8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2 (&amp; 3, 4…) — Bras Robotiques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47472" y="3593592"/>
            <a:ext cx="4005072" cy="1152144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7472" y="3593592"/>
            <a:ext cx="4005072" cy="256032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28" name="Shape 25"/>
          <p:cNvSpPr/>
          <p:nvPr/>
        </p:nvSpPr>
        <p:spPr>
          <a:xfrm>
            <a:off x="438912" y="3657600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29" name="Shape 26"/>
          <p:cNvSpPr/>
          <p:nvPr/>
        </p:nvSpPr>
        <p:spPr>
          <a:xfrm>
            <a:off x="576072" y="3657600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30" name="Shape 27"/>
          <p:cNvSpPr/>
          <p:nvPr/>
        </p:nvSpPr>
        <p:spPr>
          <a:xfrm>
            <a:off x="713232" y="3657600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31" name="Text 28"/>
          <p:cNvSpPr/>
          <p:nvPr/>
        </p:nvSpPr>
        <p:spPr>
          <a:xfrm>
            <a:off x="475488" y="390448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~/Downloads/projet_SE/entrepot/client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75488" y="408736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./bras 1   # Lancer le bras numéro 1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75488" y="427024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./bras 2   # Dans un 3ème terminal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75488" y="445312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./bras 3   # Dans un 4ème terminal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681728" y="1353312"/>
            <a:ext cx="4151376" cy="3547872"/>
          </a:xfrm>
          <a:prstGeom prst="rect">
            <a:avLst/>
          </a:prstGeom>
          <a:solidFill>
            <a:srgbClr val="122047"/>
          </a:solidFill>
          <a:ln w="19050">
            <a:solidFill>
              <a:srgbClr val="C9A84C"/>
            </a:solidFill>
            <a:prstDash val="solid"/>
          </a:ln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681728" y="1353312"/>
            <a:ext cx="4151376" cy="292608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37" name="Shape 34"/>
          <p:cNvSpPr/>
          <p:nvPr/>
        </p:nvSpPr>
        <p:spPr>
          <a:xfrm>
            <a:off x="4773168" y="1435608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38" name="Shape 35"/>
          <p:cNvSpPr/>
          <p:nvPr/>
        </p:nvSpPr>
        <p:spPr>
          <a:xfrm>
            <a:off x="4919472" y="1435608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39" name="Shape 36"/>
          <p:cNvSpPr/>
          <p:nvPr/>
        </p:nvSpPr>
        <p:spPr>
          <a:xfrm>
            <a:off x="5065776" y="1435608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40" name="Text 37"/>
          <p:cNvSpPr/>
          <p:nvPr/>
        </p:nvSpPr>
        <p:spPr>
          <a:xfrm>
            <a:off x="5248656" y="1353312"/>
            <a:ext cx="3511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— Konsole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846320" y="1773936"/>
            <a:ext cx="3822192" cy="2926080"/>
          </a:xfrm>
          <a:prstGeom prst="rect">
            <a:avLst/>
          </a:prstGeom>
          <a:solidFill>
            <a:srgbClr val="080C1F">
              <a:alpha val="70000"/>
            </a:srgbClr>
          </a:solidFill>
          <a:ln w="9525">
            <a:solidFill>
              <a:srgbClr val="C9A84C"/>
            </a:solidFill>
            <a:prstDash val="dashDot"/>
          </a:ln>
        </p:spPr>
      </p:sp>
      <p:sp>
        <p:nvSpPr>
          <p:cNvPr id="42" name="Text 39"/>
          <p:cNvSpPr/>
          <p:nvPr/>
        </p:nvSpPr>
        <p:spPr>
          <a:xfrm>
            <a:off x="6391656" y="2807208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4846320" y="3172968"/>
            <a:ext cx="38221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: serveur en attente + bras connectés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4846320" y="3511296"/>
            <a:ext cx="38221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Insérer la capture d'écran ici ]</a:t>
            </a:r>
            <a:endParaRPr lang="en-US" sz="800" dirty="0"/>
          </a:p>
        </p:txBody>
      </p:sp>
      <p:pic>
        <p:nvPicPr>
          <p:cNvPr id="45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735" y="1947545"/>
            <a:ext cx="3829685" cy="2380615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16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 d'Exécution — 3b &amp; 3c) Lancement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1 : Serveur en attente | Terminal 2 : Bras robotiques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4133088" cy="1691640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353312"/>
            <a:ext cx="4133088" cy="365760"/>
          </a:xfrm>
          <a:prstGeom prst="rect">
            <a:avLst/>
          </a:prstGeom>
          <a:solidFill>
            <a:srgbClr val="1A7FAF">
              <a:alpha val="80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292608" y="1353312"/>
            <a:ext cx="64008" cy="1691640"/>
          </a:xfrm>
          <a:prstGeom prst="rect">
            <a:avLst/>
          </a:prstGeom>
          <a:solidFill>
            <a:srgbClr val="1A7FAF"/>
          </a:solidFill>
        </p:spPr>
      </p:sp>
      <p:sp>
        <p:nvSpPr>
          <p:cNvPr id="12" name="Text 9"/>
          <p:cNvSpPr/>
          <p:nvPr/>
        </p:nvSpPr>
        <p:spPr>
          <a:xfrm>
            <a:off x="457200" y="135331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1 — Serveur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7472" y="1792224"/>
            <a:ext cx="4005072" cy="1152144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" y="1792224"/>
            <a:ext cx="4005072" cy="256032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15" name="Shape 12"/>
          <p:cNvSpPr/>
          <p:nvPr/>
        </p:nvSpPr>
        <p:spPr>
          <a:xfrm>
            <a:off x="438912" y="1856232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16" name="Shape 13"/>
          <p:cNvSpPr/>
          <p:nvPr/>
        </p:nvSpPr>
        <p:spPr>
          <a:xfrm>
            <a:off x="576072" y="1856232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17" name="Shape 14"/>
          <p:cNvSpPr/>
          <p:nvPr/>
        </p:nvSpPr>
        <p:spPr>
          <a:xfrm>
            <a:off x="713232" y="1856232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18" name="Text 15"/>
          <p:cNvSpPr/>
          <p:nvPr/>
        </p:nvSpPr>
        <p:spPr>
          <a:xfrm>
            <a:off x="475488" y="2103120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~/Downloads/projet_SE/entrepot/serveur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5488" y="2286000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./serveur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5488" y="2468880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5488" y="2651760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Le serveur démarre et attend les bras...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92608" y="3154680"/>
            <a:ext cx="4133088" cy="1755648"/>
          </a:xfrm>
          <a:prstGeom prst="rect">
            <a:avLst/>
          </a:prstGeom>
          <a:solidFill>
            <a:srgbClr val="122047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92608" y="3154680"/>
            <a:ext cx="4133088" cy="365760"/>
          </a:xfrm>
          <a:prstGeom prst="rect">
            <a:avLst/>
          </a:prstGeom>
          <a:solidFill>
            <a:srgbClr val="1DB87A">
              <a:alpha val="80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292608" y="3154680"/>
            <a:ext cx="64008" cy="1755648"/>
          </a:xfrm>
          <a:prstGeom prst="rect">
            <a:avLst/>
          </a:prstGeom>
          <a:solidFill>
            <a:srgbClr val="1DB87A"/>
          </a:solidFill>
        </p:spPr>
      </p:sp>
      <p:sp>
        <p:nvSpPr>
          <p:cNvPr id="25" name="Text 22"/>
          <p:cNvSpPr/>
          <p:nvPr/>
        </p:nvSpPr>
        <p:spPr>
          <a:xfrm>
            <a:off x="457200" y="31546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8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2 (&amp; 3, 4…) — Bras Robotiques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47472" y="3593592"/>
            <a:ext cx="4005072" cy="1152144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7472" y="3593592"/>
            <a:ext cx="4005072" cy="256032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28" name="Shape 25"/>
          <p:cNvSpPr/>
          <p:nvPr/>
        </p:nvSpPr>
        <p:spPr>
          <a:xfrm>
            <a:off x="438912" y="3657600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29" name="Shape 26"/>
          <p:cNvSpPr/>
          <p:nvPr/>
        </p:nvSpPr>
        <p:spPr>
          <a:xfrm>
            <a:off x="576072" y="3657600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30" name="Shape 27"/>
          <p:cNvSpPr/>
          <p:nvPr/>
        </p:nvSpPr>
        <p:spPr>
          <a:xfrm>
            <a:off x="713232" y="3657600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31" name="Text 28"/>
          <p:cNvSpPr/>
          <p:nvPr/>
        </p:nvSpPr>
        <p:spPr>
          <a:xfrm>
            <a:off x="475488" y="390448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~/Downloads/projet_SE/entrepot/client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75488" y="408736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./bras 1   # Lancer le bras numéro 1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75488" y="427024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./bras 2   # Dans un 3ème terminal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75488" y="445312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./bras 3   # Dans un 4ème terminal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681728" y="1353312"/>
            <a:ext cx="4151376" cy="3547872"/>
          </a:xfrm>
          <a:prstGeom prst="rect">
            <a:avLst/>
          </a:prstGeom>
          <a:solidFill>
            <a:srgbClr val="122047"/>
          </a:solidFill>
          <a:ln w="19050">
            <a:solidFill>
              <a:srgbClr val="C9A84C"/>
            </a:solidFill>
            <a:prstDash val="solid"/>
          </a:ln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681728" y="1353312"/>
            <a:ext cx="4151376" cy="292608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37" name="Shape 34"/>
          <p:cNvSpPr/>
          <p:nvPr/>
        </p:nvSpPr>
        <p:spPr>
          <a:xfrm>
            <a:off x="4773168" y="1435608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38" name="Shape 35"/>
          <p:cNvSpPr/>
          <p:nvPr/>
        </p:nvSpPr>
        <p:spPr>
          <a:xfrm>
            <a:off x="4919472" y="1435608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39" name="Shape 36"/>
          <p:cNvSpPr/>
          <p:nvPr/>
        </p:nvSpPr>
        <p:spPr>
          <a:xfrm>
            <a:off x="5065776" y="1435608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40" name="Text 37"/>
          <p:cNvSpPr/>
          <p:nvPr/>
        </p:nvSpPr>
        <p:spPr>
          <a:xfrm>
            <a:off x="5248656" y="1353312"/>
            <a:ext cx="3511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— Konsole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846320" y="1773936"/>
            <a:ext cx="3822192" cy="2926080"/>
          </a:xfrm>
          <a:prstGeom prst="rect">
            <a:avLst/>
          </a:prstGeom>
          <a:solidFill>
            <a:srgbClr val="080C1F">
              <a:alpha val="70000"/>
            </a:srgbClr>
          </a:solidFill>
          <a:ln w="9525">
            <a:solidFill>
              <a:srgbClr val="C9A84C"/>
            </a:solidFill>
            <a:prstDash val="dashDot"/>
          </a:ln>
        </p:spPr>
        <p:txBody>
          <a:bodyPr/>
          <a:p>
            <a:endParaRPr lang="fr-FR" altLang="en-US"/>
          </a:p>
        </p:txBody>
      </p:sp>
      <p:sp>
        <p:nvSpPr>
          <p:cNvPr id="42" name="Text 39"/>
          <p:cNvSpPr/>
          <p:nvPr/>
        </p:nvSpPr>
        <p:spPr>
          <a:xfrm>
            <a:off x="6391656" y="2807208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4846320" y="3172968"/>
            <a:ext cx="38221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: serveur en attente + bras connectés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4846320" y="3511296"/>
            <a:ext cx="38221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Insérer la capture d'écran ici ]</a:t>
            </a:r>
            <a:endParaRPr lang="en-US" sz="800" dirty="0"/>
          </a:p>
        </p:txBody>
      </p:sp>
      <p:pic>
        <p:nvPicPr>
          <p:cNvPr id="47" name="Image 11"/>
          <p:cNvPicPr>
            <a:picLocks noChangeAspect="1"/>
          </p:cNvPicPr>
          <p:nvPr/>
        </p:nvPicPr>
        <p:blipFill>
          <a:blip r:embed="rId2"/>
          <a:srcRect l="-299" t="845" r="30861" b="4866"/>
          <a:stretch>
            <a:fillRect/>
          </a:stretch>
        </p:blipFill>
        <p:spPr>
          <a:xfrm>
            <a:off x="4846320" y="1950720"/>
            <a:ext cx="3821430" cy="233807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17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  <p:txBody>
          <a:bodyPr/>
          <a:p>
            <a:endParaRPr lang="fr-F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 d'Exécution — 3b &amp; 3c) Lancement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1 : Serveur en attente | Terminal 2 : Bras robotiques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4133088" cy="1691640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353312"/>
            <a:ext cx="4133088" cy="365760"/>
          </a:xfrm>
          <a:prstGeom prst="rect">
            <a:avLst/>
          </a:prstGeom>
          <a:solidFill>
            <a:srgbClr val="1A7FAF">
              <a:alpha val="80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292608" y="1353312"/>
            <a:ext cx="64008" cy="1691640"/>
          </a:xfrm>
          <a:prstGeom prst="rect">
            <a:avLst/>
          </a:prstGeom>
          <a:solidFill>
            <a:srgbClr val="1A7FAF"/>
          </a:solidFill>
        </p:spPr>
      </p:sp>
      <p:sp>
        <p:nvSpPr>
          <p:cNvPr id="12" name="Text 9"/>
          <p:cNvSpPr/>
          <p:nvPr/>
        </p:nvSpPr>
        <p:spPr>
          <a:xfrm>
            <a:off x="457200" y="135331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1 — Serveur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7472" y="1792224"/>
            <a:ext cx="4005072" cy="1152144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" y="1792224"/>
            <a:ext cx="4005072" cy="256032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15" name="Shape 12"/>
          <p:cNvSpPr/>
          <p:nvPr/>
        </p:nvSpPr>
        <p:spPr>
          <a:xfrm>
            <a:off x="438912" y="1856232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16" name="Shape 13"/>
          <p:cNvSpPr/>
          <p:nvPr/>
        </p:nvSpPr>
        <p:spPr>
          <a:xfrm>
            <a:off x="576072" y="1856232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17" name="Shape 14"/>
          <p:cNvSpPr/>
          <p:nvPr/>
        </p:nvSpPr>
        <p:spPr>
          <a:xfrm>
            <a:off x="713232" y="1856232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18" name="Text 15"/>
          <p:cNvSpPr/>
          <p:nvPr/>
        </p:nvSpPr>
        <p:spPr>
          <a:xfrm>
            <a:off x="475488" y="2103120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~/Downloads/projet_SE/entrepot/serveur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5488" y="2286000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./serveur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5488" y="2468880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5488" y="2651760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Le serveur démarre et attend les bras...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92608" y="3154680"/>
            <a:ext cx="4133088" cy="1755648"/>
          </a:xfrm>
          <a:prstGeom prst="rect">
            <a:avLst/>
          </a:prstGeom>
          <a:solidFill>
            <a:srgbClr val="122047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92608" y="3154680"/>
            <a:ext cx="4133088" cy="365760"/>
          </a:xfrm>
          <a:prstGeom prst="rect">
            <a:avLst/>
          </a:prstGeom>
          <a:solidFill>
            <a:srgbClr val="1DB87A">
              <a:alpha val="80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292608" y="3154680"/>
            <a:ext cx="64008" cy="1755648"/>
          </a:xfrm>
          <a:prstGeom prst="rect">
            <a:avLst/>
          </a:prstGeom>
          <a:solidFill>
            <a:srgbClr val="1DB87A"/>
          </a:solidFill>
        </p:spPr>
      </p:sp>
      <p:sp>
        <p:nvSpPr>
          <p:cNvPr id="25" name="Text 22"/>
          <p:cNvSpPr/>
          <p:nvPr/>
        </p:nvSpPr>
        <p:spPr>
          <a:xfrm>
            <a:off x="457200" y="31546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8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2 (&amp; 3, 4…) — Bras Robotiques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47472" y="3593592"/>
            <a:ext cx="4005072" cy="1152144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7472" y="3593592"/>
            <a:ext cx="4005072" cy="256032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28" name="Shape 25"/>
          <p:cNvSpPr/>
          <p:nvPr/>
        </p:nvSpPr>
        <p:spPr>
          <a:xfrm>
            <a:off x="438912" y="3657600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29" name="Shape 26"/>
          <p:cNvSpPr/>
          <p:nvPr/>
        </p:nvSpPr>
        <p:spPr>
          <a:xfrm>
            <a:off x="576072" y="3657600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30" name="Shape 27"/>
          <p:cNvSpPr/>
          <p:nvPr/>
        </p:nvSpPr>
        <p:spPr>
          <a:xfrm>
            <a:off x="713232" y="3657600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31" name="Text 28"/>
          <p:cNvSpPr/>
          <p:nvPr/>
        </p:nvSpPr>
        <p:spPr>
          <a:xfrm>
            <a:off x="475488" y="390448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~/Downloads/projet_SE/entrepot/client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75488" y="408736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./bras 1   # Lancer le bras numéro 1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75488" y="427024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./bras 2   # Dans un 3ème terminal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75488" y="445312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./bras 3   # Dans un 4ème terminal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681728" y="1353312"/>
            <a:ext cx="4151376" cy="3547872"/>
          </a:xfrm>
          <a:prstGeom prst="rect">
            <a:avLst/>
          </a:prstGeom>
          <a:solidFill>
            <a:srgbClr val="122047"/>
          </a:solidFill>
          <a:ln w="19050">
            <a:solidFill>
              <a:srgbClr val="C9A84C"/>
            </a:solidFill>
            <a:prstDash val="solid"/>
          </a:ln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681728" y="1353312"/>
            <a:ext cx="4151376" cy="292608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37" name="Shape 34"/>
          <p:cNvSpPr/>
          <p:nvPr/>
        </p:nvSpPr>
        <p:spPr>
          <a:xfrm>
            <a:off x="4773168" y="1435608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38" name="Shape 35"/>
          <p:cNvSpPr/>
          <p:nvPr/>
        </p:nvSpPr>
        <p:spPr>
          <a:xfrm>
            <a:off x="4919472" y="1435608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39" name="Shape 36"/>
          <p:cNvSpPr/>
          <p:nvPr/>
        </p:nvSpPr>
        <p:spPr>
          <a:xfrm>
            <a:off x="5065776" y="1435608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40" name="Text 37"/>
          <p:cNvSpPr/>
          <p:nvPr/>
        </p:nvSpPr>
        <p:spPr>
          <a:xfrm>
            <a:off x="5248656" y="1353312"/>
            <a:ext cx="3511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— Konsole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846320" y="1773936"/>
            <a:ext cx="3822192" cy="2926080"/>
          </a:xfrm>
          <a:prstGeom prst="rect">
            <a:avLst/>
          </a:prstGeom>
          <a:solidFill>
            <a:srgbClr val="080C1F">
              <a:alpha val="70000"/>
            </a:srgbClr>
          </a:solidFill>
          <a:ln w="9525">
            <a:solidFill>
              <a:srgbClr val="C9A84C"/>
            </a:solidFill>
            <a:prstDash val="dashDot"/>
          </a:ln>
        </p:spPr>
        <p:txBody>
          <a:bodyPr/>
          <a:p>
            <a:endParaRPr lang="fr-FR" altLang="en-US"/>
          </a:p>
        </p:txBody>
      </p:sp>
      <p:sp>
        <p:nvSpPr>
          <p:cNvPr id="42" name="Text 39"/>
          <p:cNvSpPr/>
          <p:nvPr/>
        </p:nvSpPr>
        <p:spPr>
          <a:xfrm>
            <a:off x="6391656" y="2807208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4846320" y="3172968"/>
            <a:ext cx="38221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: serveur en attente + bras connectés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4846320" y="3511296"/>
            <a:ext cx="38221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Insérer la capture d'écran ici ]</a:t>
            </a:r>
            <a:endParaRPr lang="en-US" sz="800" dirty="0"/>
          </a:p>
        </p:txBody>
      </p:sp>
      <p:pic>
        <p:nvPicPr>
          <p:cNvPr id="45" name="Image 12"/>
          <p:cNvPicPr>
            <a:picLocks noChangeAspect="1"/>
          </p:cNvPicPr>
          <p:nvPr/>
        </p:nvPicPr>
        <p:blipFill>
          <a:blip r:embed="rId2"/>
          <a:srcRect r="31530"/>
          <a:stretch>
            <a:fillRect/>
          </a:stretch>
        </p:blipFill>
        <p:spPr>
          <a:xfrm>
            <a:off x="4864735" y="2048510"/>
            <a:ext cx="3803650" cy="2361565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18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  <p:txBody>
          <a:bodyPr/>
          <a:p>
            <a:endParaRPr lang="fr-F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 d'Exécution — 3b &amp; 3c) Lancement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1 : Serveur en attente | Terminal 2 : Bras robotiques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4133088" cy="1691640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353312"/>
            <a:ext cx="4133088" cy="365760"/>
          </a:xfrm>
          <a:prstGeom prst="rect">
            <a:avLst/>
          </a:prstGeom>
          <a:solidFill>
            <a:srgbClr val="1A7FAF">
              <a:alpha val="80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292608" y="1353312"/>
            <a:ext cx="64008" cy="1691640"/>
          </a:xfrm>
          <a:prstGeom prst="rect">
            <a:avLst/>
          </a:prstGeom>
          <a:solidFill>
            <a:srgbClr val="1A7FAF"/>
          </a:solidFill>
        </p:spPr>
      </p:sp>
      <p:sp>
        <p:nvSpPr>
          <p:cNvPr id="12" name="Text 9"/>
          <p:cNvSpPr/>
          <p:nvPr/>
        </p:nvSpPr>
        <p:spPr>
          <a:xfrm>
            <a:off x="457200" y="135331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1 — Serveur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7472" y="1792224"/>
            <a:ext cx="4005072" cy="1152144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" y="1792224"/>
            <a:ext cx="4005072" cy="256032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15" name="Shape 12"/>
          <p:cNvSpPr/>
          <p:nvPr/>
        </p:nvSpPr>
        <p:spPr>
          <a:xfrm>
            <a:off x="438912" y="1856232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16" name="Shape 13"/>
          <p:cNvSpPr/>
          <p:nvPr/>
        </p:nvSpPr>
        <p:spPr>
          <a:xfrm>
            <a:off x="576072" y="1856232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17" name="Shape 14"/>
          <p:cNvSpPr/>
          <p:nvPr/>
        </p:nvSpPr>
        <p:spPr>
          <a:xfrm>
            <a:off x="713232" y="1856232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18" name="Text 15"/>
          <p:cNvSpPr/>
          <p:nvPr/>
        </p:nvSpPr>
        <p:spPr>
          <a:xfrm>
            <a:off x="475488" y="2103120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~/Downloads/projet_SE/entrepot/serveur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5488" y="2286000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./serveur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75488" y="2468880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5488" y="2651760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Le serveur démarre et attend les bras...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92608" y="3154680"/>
            <a:ext cx="4133088" cy="1755648"/>
          </a:xfrm>
          <a:prstGeom prst="rect">
            <a:avLst/>
          </a:prstGeom>
          <a:solidFill>
            <a:srgbClr val="122047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92608" y="3154680"/>
            <a:ext cx="4133088" cy="365760"/>
          </a:xfrm>
          <a:prstGeom prst="rect">
            <a:avLst/>
          </a:prstGeom>
          <a:solidFill>
            <a:srgbClr val="1DB87A">
              <a:alpha val="80000"/>
            </a:srgbClr>
          </a:solidFill>
        </p:spPr>
      </p:sp>
      <p:sp>
        <p:nvSpPr>
          <p:cNvPr id="24" name="Shape 21"/>
          <p:cNvSpPr/>
          <p:nvPr/>
        </p:nvSpPr>
        <p:spPr>
          <a:xfrm>
            <a:off x="292608" y="3154680"/>
            <a:ext cx="64008" cy="1755648"/>
          </a:xfrm>
          <a:prstGeom prst="rect">
            <a:avLst/>
          </a:prstGeom>
          <a:solidFill>
            <a:srgbClr val="1DB87A"/>
          </a:solidFill>
        </p:spPr>
      </p:sp>
      <p:sp>
        <p:nvSpPr>
          <p:cNvPr id="25" name="Text 22"/>
          <p:cNvSpPr/>
          <p:nvPr/>
        </p:nvSpPr>
        <p:spPr>
          <a:xfrm>
            <a:off x="457200" y="315468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8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2 (&amp; 3, 4…) — Bras Robotiques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47472" y="3593592"/>
            <a:ext cx="4005072" cy="1152144"/>
          </a:xfrm>
          <a:prstGeom prst="rect">
            <a:avLst/>
          </a:prstGeom>
          <a:solidFill>
            <a:srgbClr val="070B18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47472" y="3593592"/>
            <a:ext cx="4005072" cy="256032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28" name="Shape 25"/>
          <p:cNvSpPr/>
          <p:nvPr/>
        </p:nvSpPr>
        <p:spPr>
          <a:xfrm>
            <a:off x="438912" y="3657600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29" name="Shape 26"/>
          <p:cNvSpPr/>
          <p:nvPr/>
        </p:nvSpPr>
        <p:spPr>
          <a:xfrm>
            <a:off x="576072" y="3657600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30" name="Shape 27"/>
          <p:cNvSpPr/>
          <p:nvPr/>
        </p:nvSpPr>
        <p:spPr>
          <a:xfrm>
            <a:off x="713232" y="3657600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31" name="Text 28"/>
          <p:cNvSpPr/>
          <p:nvPr/>
        </p:nvSpPr>
        <p:spPr>
          <a:xfrm>
            <a:off x="475488" y="390448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9A84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cd ~/Downloads/projet_SE/entrepot/client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75488" y="408736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./bras 1   # Lancer le bras numéro 1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75488" y="427024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./bras 2   # Dans un 3ème terminal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75488" y="4453128"/>
            <a:ext cx="3822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DB87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./bras 3   # Dans un 4ème terminal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681728" y="1353312"/>
            <a:ext cx="4151376" cy="3547872"/>
          </a:xfrm>
          <a:prstGeom prst="rect">
            <a:avLst/>
          </a:prstGeom>
          <a:solidFill>
            <a:srgbClr val="122047"/>
          </a:solidFill>
          <a:ln w="19050">
            <a:solidFill>
              <a:srgbClr val="C9A84C"/>
            </a:solidFill>
            <a:prstDash val="solid"/>
          </a:ln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681728" y="1353312"/>
            <a:ext cx="4151376" cy="292608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37" name="Shape 34"/>
          <p:cNvSpPr/>
          <p:nvPr/>
        </p:nvSpPr>
        <p:spPr>
          <a:xfrm>
            <a:off x="4773168" y="1435608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38" name="Shape 35"/>
          <p:cNvSpPr/>
          <p:nvPr/>
        </p:nvSpPr>
        <p:spPr>
          <a:xfrm>
            <a:off x="4919472" y="1435608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39" name="Shape 36"/>
          <p:cNvSpPr/>
          <p:nvPr/>
        </p:nvSpPr>
        <p:spPr>
          <a:xfrm>
            <a:off x="5065776" y="1435608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40" name="Text 37"/>
          <p:cNvSpPr/>
          <p:nvPr/>
        </p:nvSpPr>
        <p:spPr>
          <a:xfrm>
            <a:off x="5248656" y="1353312"/>
            <a:ext cx="351129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— Konsole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846320" y="1773936"/>
            <a:ext cx="3822192" cy="2926080"/>
          </a:xfrm>
          <a:prstGeom prst="rect">
            <a:avLst/>
          </a:prstGeom>
          <a:solidFill>
            <a:srgbClr val="080C1F">
              <a:alpha val="70000"/>
            </a:srgbClr>
          </a:solidFill>
          <a:ln w="9525">
            <a:solidFill>
              <a:srgbClr val="C9A84C"/>
            </a:solidFill>
            <a:prstDash val="dashDot"/>
          </a:ln>
        </p:spPr>
        <p:txBody>
          <a:bodyPr/>
          <a:p>
            <a:endParaRPr lang="fr-FR" altLang="en-US"/>
          </a:p>
        </p:txBody>
      </p:sp>
      <p:sp>
        <p:nvSpPr>
          <p:cNvPr id="42" name="Text 39"/>
          <p:cNvSpPr/>
          <p:nvPr/>
        </p:nvSpPr>
        <p:spPr>
          <a:xfrm>
            <a:off x="6391656" y="2807208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4846320" y="3172968"/>
            <a:ext cx="382219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Capture : serveur en attente + bras connectés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4846320" y="3511296"/>
            <a:ext cx="382219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Insérer la capture d'écran ici ]</a:t>
            </a:r>
            <a:endParaRPr lang="en-US" sz="800" dirty="0"/>
          </a:p>
        </p:txBody>
      </p:sp>
      <p:pic>
        <p:nvPicPr>
          <p:cNvPr id="46" name="Image 13"/>
          <p:cNvPicPr>
            <a:picLocks noChangeAspect="1"/>
          </p:cNvPicPr>
          <p:nvPr/>
        </p:nvPicPr>
        <p:blipFill>
          <a:blip r:embed="rId2"/>
          <a:srcRect r="30891"/>
          <a:stretch>
            <a:fillRect/>
          </a:stretch>
        </p:blipFill>
        <p:spPr>
          <a:xfrm>
            <a:off x="4812665" y="1947545"/>
            <a:ext cx="3855720" cy="249809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19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solidFill>
            <a:srgbClr val="080C1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 d'Exécution — 4) Lecture de l'Affichage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Comprendre les sorties terminales de l'ordonnanceur et du serveur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4133088" cy="1783080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353312"/>
            <a:ext cx="4133088" cy="384048"/>
          </a:xfrm>
          <a:prstGeom prst="rect">
            <a:avLst/>
          </a:prstGeom>
          <a:solidFill>
            <a:srgbClr val="C9A84C">
              <a:alpha val="85000"/>
            </a:srgbClr>
          </a:solidFill>
        </p:spPr>
      </p:sp>
      <p:sp>
        <p:nvSpPr>
          <p:cNvPr id="11" name="Shape 8"/>
          <p:cNvSpPr/>
          <p:nvPr/>
        </p:nvSpPr>
        <p:spPr>
          <a:xfrm>
            <a:off x="292608" y="1353312"/>
            <a:ext cx="64008" cy="178308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12" name="Text 9"/>
          <p:cNvSpPr/>
          <p:nvPr/>
        </p:nvSpPr>
        <p:spPr>
          <a:xfrm>
            <a:off x="457200" y="1353312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0C1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4a) Affichage de l'ordonnanceur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1828800"/>
            <a:ext cx="3858768" cy="1225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L'ordonnanceur affiche un tableau tick par tick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avec une barre de progression pour chaque processus :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 | Processus | Action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─────────────────────────────────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0 | P1        | ► CPU [■    ] 1/5 restant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1 | P2        | ► Arrivée dans la file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2 | P3        | ► CPU [■■   ] 1/8 restant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92608" y="3218688"/>
            <a:ext cx="4133088" cy="1691640"/>
          </a:xfrm>
          <a:prstGeom prst="rect">
            <a:avLst/>
          </a:prstGeom>
          <a:solidFill>
            <a:srgbClr val="122047"/>
          </a:solidFill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92608" y="3218688"/>
            <a:ext cx="4133088" cy="384048"/>
          </a:xfrm>
          <a:prstGeom prst="rect">
            <a:avLst/>
          </a:prstGeom>
          <a:solidFill>
            <a:srgbClr val="1A7FAF">
              <a:alpha val="80000"/>
            </a:srgbClr>
          </a:solidFill>
        </p:spPr>
      </p:sp>
      <p:sp>
        <p:nvSpPr>
          <p:cNvPr id="16" name="Shape 13"/>
          <p:cNvSpPr/>
          <p:nvPr/>
        </p:nvSpPr>
        <p:spPr>
          <a:xfrm>
            <a:off x="292608" y="3218688"/>
            <a:ext cx="64008" cy="1691640"/>
          </a:xfrm>
          <a:prstGeom prst="rect">
            <a:avLst/>
          </a:prstGeom>
          <a:solidFill>
            <a:srgbClr val="1A7FAF"/>
          </a:solidFill>
        </p:spPr>
      </p:sp>
      <p:sp>
        <p:nvSpPr>
          <p:cNvPr id="17" name="Text 14"/>
          <p:cNvSpPr/>
          <p:nvPr/>
        </p:nvSpPr>
        <p:spPr>
          <a:xfrm>
            <a:off x="457200" y="3218688"/>
            <a:ext cx="3840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FA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Tableau STATISTIQUES final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3675888"/>
            <a:ext cx="3858768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Proc | Arrivée | Burst | Attente | Retour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─────────────────────────────────────────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P1   |    0    |   5   |    0    |    -1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P2   |    1    |   3   |    0    |    -2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P3   |    2    |   8   |    0    |    -3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P4   |    3    |   2   |    0    |    -4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─────────────────────────────────────────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Moy  |         |       |   0.0   |  -2.5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81728" y="1353312"/>
            <a:ext cx="4151376" cy="3547872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81728" y="1353312"/>
            <a:ext cx="4151376" cy="384048"/>
          </a:xfrm>
          <a:prstGeom prst="rect">
            <a:avLst/>
          </a:prstGeom>
          <a:solidFill>
            <a:srgbClr val="1DB87A">
              <a:alpha val="85000"/>
            </a:srgbClr>
          </a:solidFill>
        </p:spPr>
      </p:sp>
      <p:sp>
        <p:nvSpPr>
          <p:cNvPr id="21" name="Shape 18"/>
          <p:cNvSpPr/>
          <p:nvPr/>
        </p:nvSpPr>
        <p:spPr>
          <a:xfrm>
            <a:off x="4681728" y="1353312"/>
            <a:ext cx="64008" cy="3547872"/>
          </a:xfrm>
          <a:prstGeom prst="rect">
            <a:avLst/>
          </a:prstGeom>
          <a:solidFill>
            <a:srgbClr val="1DB87A"/>
          </a:solidFill>
        </p:spPr>
      </p:sp>
      <p:sp>
        <p:nvSpPr>
          <p:cNvPr id="22" name="Text 19"/>
          <p:cNvSpPr/>
          <p:nvPr/>
        </p:nvSpPr>
        <p:spPr>
          <a:xfrm>
            <a:off x="4846320" y="1353312"/>
            <a:ext cx="385876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8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4b) Serveur après connexion des bras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28032" y="1828800"/>
            <a:ext cx="3913632" cy="2980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 serveur affiche l'état de chaque outil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en temps réel après chaque acquisition/libération 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✓ 5 outils initialisés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✓ Port : 9090 | Max bras : 8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État : ↑00:libre ↑01:libre ↑02:libre ↑03:libre ↑04:libre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[02:44:30] Bras 1 demande outils 00 et 03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[02:44:30] Bras 1 obtient outil 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État : ⓐ00:Bras1 ↑01:libre ↑02:libre ⓐ03:Bras1 ↑04:libre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[02:46:21] Bras 2 connecté (socket 5)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[02:46:23] Bras 2 demande outils 01 et 04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0EDE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État : ⓐ00:Bras1 ⓐ01:Bras2 ↑02:libre ⓐ03:Bras1 ⓐ04:Bras2</a:t>
            </a:r>
            <a:endParaRPr lang="en-US" sz="900" dirty="0"/>
          </a:p>
        </p:txBody>
      </p:sp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20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1170432"/>
            <a:ext cx="9144000" cy="4114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0" y="0"/>
            <a:ext cx="173736" cy="1261872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8288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91440"/>
            <a:ext cx="7955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Résultats d'Exécution — Captures des Tests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024128" y="658368"/>
            <a:ext cx="7955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08" y="1353312"/>
            <a:ext cx="4133088" cy="1828800"/>
          </a:xfrm>
          <a:prstGeom prst="rect">
            <a:avLst/>
          </a:prstGeom>
          <a:solidFill>
            <a:srgbClr val="122047"/>
          </a:solidFill>
          <a:ln w="19050">
            <a:solidFill>
              <a:srgbClr val="C9A84C"/>
            </a:solidFill>
            <a:prstDash val="solid"/>
          </a:ln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2608" y="1353312"/>
            <a:ext cx="4133088" cy="292608"/>
          </a:xfrm>
          <a:prstGeom prst="rect">
            <a:avLst/>
          </a:prstGeom>
          <a:solidFill>
            <a:srgbClr val="0E1525"/>
          </a:solidFill>
        </p:spPr>
      </p:sp>
      <p:sp>
        <p:nvSpPr>
          <p:cNvPr id="11" name="Shape 8"/>
          <p:cNvSpPr/>
          <p:nvPr/>
        </p:nvSpPr>
        <p:spPr>
          <a:xfrm>
            <a:off x="384048" y="1435608"/>
            <a:ext cx="91440" cy="91440"/>
          </a:xfrm>
          <a:prstGeom prst="ellipse">
            <a:avLst/>
          </a:prstGeom>
          <a:solidFill>
            <a:srgbClr val="E05252"/>
          </a:solidFill>
        </p:spPr>
      </p:sp>
      <p:sp>
        <p:nvSpPr>
          <p:cNvPr id="12" name="Shape 9"/>
          <p:cNvSpPr/>
          <p:nvPr/>
        </p:nvSpPr>
        <p:spPr>
          <a:xfrm>
            <a:off x="530352" y="1435608"/>
            <a:ext cx="91440" cy="91440"/>
          </a:xfrm>
          <a:prstGeom prst="ellipse">
            <a:avLst/>
          </a:prstGeom>
          <a:solidFill>
            <a:srgbClr val="E89830"/>
          </a:solidFill>
        </p:spPr>
      </p:sp>
      <p:sp>
        <p:nvSpPr>
          <p:cNvPr id="13" name="Shape 10"/>
          <p:cNvSpPr/>
          <p:nvPr/>
        </p:nvSpPr>
        <p:spPr>
          <a:xfrm>
            <a:off x="676656" y="1435608"/>
            <a:ext cx="91440" cy="91440"/>
          </a:xfrm>
          <a:prstGeom prst="ellipse">
            <a:avLst/>
          </a:prstGeom>
          <a:solidFill>
            <a:srgbClr val="1DB87A"/>
          </a:solidFill>
        </p:spPr>
      </p:sp>
      <p:sp>
        <p:nvSpPr>
          <p:cNvPr id="14" name="Text 11"/>
          <p:cNvSpPr/>
          <p:nvPr/>
        </p:nvSpPr>
        <p:spPr>
          <a:xfrm>
            <a:off x="859536" y="1353312"/>
            <a:ext cx="34930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Terminal — Konsole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773936"/>
            <a:ext cx="3803904" cy="1207008"/>
          </a:xfrm>
          <a:prstGeom prst="rect">
            <a:avLst/>
          </a:prstGeom>
          <a:solidFill>
            <a:srgbClr val="080C1F">
              <a:alpha val="70000"/>
            </a:srgbClr>
          </a:solidFill>
          <a:ln w="9525">
            <a:solidFill>
              <a:srgbClr val="C9A84C"/>
            </a:solidFill>
            <a:prstDash val="dashDot"/>
          </a:ln>
        </p:spPr>
      </p:sp>
      <p:sp>
        <p:nvSpPr>
          <p:cNvPr id="16" name="Text 13"/>
          <p:cNvSpPr/>
          <p:nvPr/>
        </p:nvSpPr>
        <p:spPr>
          <a:xfrm>
            <a:off x="1993392" y="1947672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57200" y="1527175"/>
            <a:ext cx="3803650" cy="1339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Ordonnanceur — Simulation FIFO / SJF / Round Robin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57200" y="2651760"/>
            <a:ext cx="38039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Insérer la capture d'écran ici ]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64608" y="2651760"/>
            <a:ext cx="38039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fr-FR" sz="800" dirty="0"/>
              <a:t>Serveur apr</a:t>
            </a:r>
            <a:r>
              <a:rPr lang="en-US" altLang="en-US" sz="800" dirty="0"/>
              <a:t>é</a:t>
            </a:r>
            <a:r>
              <a:rPr lang="en-US" altLang="fr-FR" sz="800" dirty="0"/>
              <a:t>s la connexion du bras 2</a:t>
            </a:r>
            <a:endParaRPr lang="en-US" altLang="fr-FR" sz="800" dirty="0"/>
          </a:p>
        </p:txBody>
      </p:sp>
      <p:sp>
        <p:nvSpPr>
          <p:cNvPr id="36" name="Text 33"/>
          <p:cNvSpPr/>
          <p:nvPr/>
        </p:nvSpPr>
        <p:spPr>
          <a:xfrm>
            <a:off x="1993392" y="3767328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37" name="Text 34"/>
          <p:cNvSpPr/>
          <p:nvPr/>
        </p:nvSpPr>
        <p:spPr>
          <a:xfrm>
            <a:off x="4950460" y="2332355"/>
            <a:ext cx="3803650" cy="2393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altLang="en-US" sz="95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Serveur aprés la connexion du bras 2</a:t>
            </a:r>
            <a:endParaRPr lang="fr-FR" altLang="en-US" sz="950" i="1" dirty="0">
              <a:solidFill>
                <a:srgbClr val="E8C97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716780" y="2716530"/>
            <a:ext cx="4133215" cy="2286635"/>
          </a:xfrm>
          <a:prstGeom prst="rect">
            <a:avLst/>
          </a:prstGeom>
          <a:solidFill>
            <a:srgbClr val="122047"/>
          </a:solidFill>
          <a:ln w="19050">
            <a:solidFill>
              <a:srgbClr val="C9A84C"/>
            </a:solidFill>
            <a:prstDash val="solid"/>
          </a:ln>
          <a:effectLst>
            <a:outerShdw blurRad="152400" dist="635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4864735" y="2771775"/>
            <a:ext cx="3985260" cy="208915"/>
          </a:xfrm>
          <a:prstGeom prst="rect">
            <a:avLst/>
          </a:prstGeom>
          <a:solidFill>
            <a:srgbClr val="0E1525"/>
          </a:solidFill>
        </p:spPr>
        <p:txBody>
          <a:bodyPr/>
          <a:p>
            <a:endParaRPr lang="fr-FR" altLang="en-US"/>
          </a:p>
        </p:txBody>
      </p:sp>
      <p:sp>
        <p:nvSpPr>
          <p:cNvPr id="45" name="Shape 42"/>
          <p:cNvSpPr/>
          <p:nvPr/>
        </p:nvSpPr>
        <p:spPr>
          <a:xfrm>
            <a:off x="4864735" y="2772410"/>
            <a:ext cx="3803650" cy="1927860"/>
          </a:xfrm>
          <a:prstGeom prst="rect">
            <a:avLst/>
          </a:prstGeom>
          <a:solidFill>
            <a:srgbClr val="080C1F">
              <a:alpha val="70000"/>
            </a:srgbClr>
          </a:solidFill>
          <a:ln w="9525">
            <a:solidFill>
              <a:srgbClr val="C9A84C"/>
            </a:solidFill>
            <a:prstDash val="dashDot"/>
          </a:ln>
        </p:spPr>
      </p:sp>
      <p:sp>
        <p:nvSpPr>
          <p:cNvPr id="46" name="Text 43"/>
          <p:cNvSpPr/>
          <p:nvPr/>
        </p:nvSpPr>
        <p:spPr>
          <a:xfrm>
            <a:off x="6400800" y="3767328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47" name="Text 44"/>
          <p:cNvSpPr/>
          <p:nvPr/>
        </p:nvSpPr>
        <p:spPr>
          <a:xfrm>
            <a:off x="4864608" y="4133088"/>
            <a:ext cx="380390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4864608" y="4471416"/>
            <a:ext cx="380390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]</a:t>
            </a:r>
            <a:endParaRPr lang="en-US" sz="800" dirty="0"/>
          </a:p>
        </p:txBody>
      </p:sp>
      <p:pic>
        <p:nvPicPr>
          <p:cNvPr id="49" name="Image 15"/>
          <p:cNvPicPr>
            <a:picLocks noChangeAspect="1"/>
          </p:cNvPicPr>
          <p:nvPr/>
        </p:nvPicPr>
        <p:blipFill>
          <a:blip r:embed="rId2"/>
          <a:srcRect t="52979" r="46166"/>
          <a:stretch>
            <a:fillRect/>
          </a:stretch>
        </p:blipFill>
        <p:spPr>
          <a:xfrm>
            <a:off x="475615" y="1774190"/>
            <a:ext cx="3785235" cy="1257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Imag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465" y="2756535"/>
            <a:ext cx="4131310" cy="2247265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PagPill"/>
          <p:cNvSpPr>
            <a:spLocks noGrp="1"/>
          </p:cNvSpPr>
          <p:nvPr/>
        </p:nvSpPr>
        <p:spPr>
          <a:xfrm>
            <a:off x="2886710" y="4790440"/>
            <a:ext cx="1374140" cy="269875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21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Shape 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50292"/>
            <a:ext cx="173736" cy="504291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6217920" y="457200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6547104" y="457200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6876288" y="457200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7205472" y="457200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6217920" y="786384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547104" y="786384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6876288" y="786384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7205472" y="786384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6217920" y="1115568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6547104" y="1115568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6876288" y="1115568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7205472" y="1115568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6217920" y="1444752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6547104" y="1444752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6876288" y="1444752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7205472" y="1444752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6217920" y="1773936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6547104" y="1773936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6876288" y="1773936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7205472" y="1773936"/>
            <a:ext cx="73152" cy="73152"/>
          </a:xfrm>
          <a:prstGeom prst="ellipse">
            <a:avLst/>
          </a:prstGeom>
          <a:solidFill>
            <a:srgbClr val="C9A84C">
              <a:alpha val="32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438912" y="201168"/>
            <a:ext cx="7315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38912" y="530352"/>
            <a:ext cx="64008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Bilan du Mini Projet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438912" y="1170432"/>
            <a:ext cx="137160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28" name="Shape 26"/>
          <p:cNvSpPr/>
          <p:nvPr/>
        </p:nvSpPr>
        <p:spPr>
          <a:xfrm>
            <a:off x="347472" y="1353312"/>
            <a:ext cx="8503920" cy="365760"/>
          </a:xfrm>
          <a:prstGeom prst="rect">
            <a:avLst/>
          </a:prstGeom>
          <a:solidFill>
            <a:srgbClr val="122047"/>
          </a:solidFill>
        </p:spPr>
      </p:sp>
      <p:sp>
        <p:nvSpPr>
          <p:cNvPr id="29" name="Text 27"/>
          <p:cNvSpPr/>
          <p:nvPr/>
        </p:nvSpPr>
        <p:spPr>
          <a:xfrm>
            <a:off x="438912" y="135331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 appris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06240" y="135331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Mise en pratique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" y="1773936"/>
            <a:ext cx="8503920" cy="420624"/>
          </a:xfrm>
          <a:prstGeom prst="rect">
            <a:avLst/>
          </a:prstGeom>
          <a:solidFill>
            <a:srgbClr val="0B1535"/>
          </a:solidFill>
        </p:spPr>
      </p:sp>
      <p:sp>
        <p:nvSpPr>
          <p:cNvPr id="32" name="Shape 30"/>
          <p:cNvSpPr/>
          <p:nvPr/>
        </p:nvSpPr>
        <p:spPr>
          <a:xfrm>
            <a:off x="347472" y="1773936"/>
            <a:ext cx="64008" cy="420624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3" name="Text 31"/>
          <p:cNvSpPr/>
          <p:nvPr/>
        </p:nvSpPr>
        <p:spPr>
          <a:xfrm>
            <a:off x="512064" y="1810512"/>
            <a:ext cx="35478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Ordonnancement CPU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206240" y="1810512"/>
            <a:ext cx="45537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algorithmes : FIFO, SJF, Round Robin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7472" y="2212848"/>
            <a:ext cx="8503920" cy="420624"/>
          </a:xfrm>
          <a:prstGeom prst="rect">
            <a:avLst/>
          </a:prstGeom>
          <a:solidFill>
            <a:srgbClr val="122047"/>
          </a:solidFill>
        </p:spPr>
      </p:sp>
      <p:sp>
        <p:nvSpPr>
          <p:cNvPr id="36" name="Shape 34"/>
          <p:cNvSpPr/>
          <p:nvPr/>
        </p:nvSpPr>
        <p:spPr>
          <a:xfrm>
            <a:off x="347472" y="2212848"/>
            <a:ext cx="64008" cy="420624"/>
          </a:xfrm>
          <a:prstGeom prst="rect">
            <a:avLst/>
          </a:prstGeom>
          <a:solidFill>
            <a:srgbClr val="1A7FAF"/>
          </a:solidFill>
        </p:spPr>
      </p:sp>
      <p:sp>
        <p:nvSpPr>
          <p:cNvPr id="37" name="Text 35"/>
          <p:cNvSpPr/>
          <p:nvPr/>
        </p:nvSpPr>
        <p:spPr>
          <a:xfrm>
            <a:off x="512064" y="2249424"/>
            <a:ext cx="35478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Threads POSIX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206240" y="2249424"/>
            <a:ext cx="45537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pthread_create, pthread_join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7472" y="2651760"/>
            <a:ext cx="8503920" cy="420624"/>
          </a:xfrm>
          <a:prstGeom prst="rect">
            <a:avLst/>
          </a:prstGeom>
          <a:solidFill>
            <a:srgbClr val="0B1535"/>
          </a:solidFill>
        </p:spPr>
      </p:sp>
      <p:sp>
        <p:nvSpPr>
          <p:cNvPr id="40" name="Shape 38"/>
          <p:cNvSpPr/>
          <p:nvPr/>
        </p:nvSpPr>
        <p:spPr>
          <a:xfrm>
            <a:off x="347472" y="2651760"/>
            <a:ext cx="64008" cy="420624"/>
          </a:xfrm>
          <a:prstGeom prst="rect">
            <a:avLst/>
          </a:prstGeom>
          <a:solidFill>
            <a:srgbClr val="1DB87A"/>
          </a:solidFill>
        </p:spPr>
      </p:sp>
      <p:sp>
        <p:nvSpPr>
          <p:cNvPr id="41" name="Text 39"/>
          <p:cNvSpPr/>
          <p:nvPr/>
        </p:nvSpPr>
        <p:spPr>
          <a:xfrm>
            <a:off x="512064" y="2688336"/>
            <a:ext cx="35478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Synchronisation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206240" y="2688336"/>
            <a:ext cx="45537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mutex + pthread_cond_wait/signal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47472" y="3090672"/>
            <a:ext cx="8503920" cy="420624"/>
          </a:xfrm>
          <a:prstGeom prst="rect">
            <a:avLst/>
          </a:prstGeom>
          <a:solidFill>
            <a:srgbClr val="122047"/>
          </a:solidFill>
        </p:spPr>
      </p:sp>
      <p:sp>
        <p:nvSpPr>
          <p:cNvPr id="44" name="Shape 42"/>
          <p:cNvSpPr/>
          <p:nvPr/>
        </p:nvSpPr>
        <p:spPr>
          <a:xfrm>
            <a:off x="347472" y="3090672"/>
            <a:ext cx="64008" cy="420624"/>
          </a:xfrm>
          <a:prstGeom prst="rect">
            <a:avLst/>
          </a:prstGeom>
          <a:solidFill>
            <a:srgbClr val="1DB87A"/>
          </a:solidFill>
        </p:spPr>
      </p:sp>
      <p:sp>
        <p:nvSpPr>
          <p:cNvPr id="45" name="Text 43"/>
          <p:cNvSpPr/>
          <p:nvPr/>
        </p:nvSpPr>
        <p:spPr>
          <a:xfrm>
            <a:off x="512064" y="3127248"/>
            <a:ext cx="35478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Prévention deadlocks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206240" y="3127248"/>
            <a:ext cx="45537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Ordre croissant d'acquisition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47472" y="3529584"/>
            <a:ext cx="8503920" cy="420624"/>
          </a:xfrm>
          <a:prstGeom prst="rect">
            <a:avLst/>
          </a:prstGeom>
          <a:solidFill>
            <a:srgbClr val="0B1535"/>
          </a:solidFill>
        </p:spPr>
      </p:sp>
      <p:sp>
        <p:nvSpPr>
          <p:cNvPr id="48" name="Shape 46"/>
          <p:cNvSpPr/>
          <p:nvPr/>
        </p:nvSpPr>
        <p:spPr>
          <a:xfrm>
            <a:off x="347472" y="3529584"/>
            <a:ext cx="64008" cy="420624"/>
          </a:xfrm>
          <a:prstGeom prst="rect">
            <a:avLst/>
          </a:prstGeom>
          <a:solidFill>
            <a:srgbClr val="E89830"/>
          </a:solidFill>
        </p:spPr>
      </p:sp>
      <p:sp>
        <p:nvSpPr>
          <p:cNvPr id="49" name="Text 47"/>
          <p:cNvSpPr/>
          <p:nvPr/>
        </p:nvSpPr>
        <p:spPr>
          <a:xfrm>
            <a:off x="512064" y="3566160"/>
            <a:ext cx="35478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Sockets TCP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206240" y="3566160"/>
            <a:ext cx="45537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Client/serveur en C : accept/recv/send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47472" y="3968496"/>
            <a:ext cx="8503920" cy="420624"/>
          </a:xfrm>
          <a:prstGeom prst="rect">
            <a:avLst/>
          </a:prstGeom>
          <a:solidFill>
            <a:srgbClr val="122047"/>
          </a:solidFill>
        </p:spPr>
      </p:sp>
      <p:sp>
        <p:nvSpPr>
          <p:cNvPr id="52" name="Shape 50"/>
          <p:cNvSpPr/>
          <p:nvPr/>
        </p:nvSpPr>
        <p:spPr>
          <a:xfrm>
            <a:off x="347472" y="3968496"/>
            <a:ext cx="64008" cy="420624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3" name="Text 51"/>
          <p:cNvSpPr/>
          <p:nvPr/>
        </p:nvSpPr>
        <p:spPr>
          <a:xfrm>
            <a:off x="512064" y="4005072"/>
            <a:ext cx="35478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Concurrence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206240" y="4005072"/>
            <a:ext cx="45537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Plusieurs bras accédant aux mêmes outils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47472" y="4462272"/>
            <a:ext cx="8503920" cy="457200"/>
          </a:xfrm>
          <a:prstGeom prst="rect">
            <a:avLst/>
          </a:prstGeom>
          <a:solidFill>
            <a:srgbClr val="C9A84C">
              <a:alpha val="18000"/>
            </a:srgbClr>
          </a:solidFill>
        </p:spPr>
      </p:sp>
      <p:sp>
        <p:nvSpPr>
          <p:cNvPr id="56" name="Text 54"/>
          <p:cNvSpPr/>
          <p:nvPr/>
        </p:nvSpPr>
        <p:spPr>
          <a:xfrm>
            <a:off x="438912" y="4462272"/>
            <a:ext cx="8321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Manar BOUAMAR  ·  Amine ANDAME   |   Encadré par M. Khalid BOUKDIR   |   ENSEM Casablanca  ·  GLD-1  ·  2025–2026</a:t>
            </a:r>
            <a:endParaRPr lang="en-US" sz="105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22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C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59436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" name="Shape 2"/>
          <p:cNvSpPr/>
          <p:nvPr/>
        </p:nvSpPr>
        <p:spPr>
          <a:xfrm>
            <a:off x="0" y="59436"/>
            <a:ext cx="59436" cy="502462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" name="Shape 3"/>
          <p:cNvSpPr/>
          <p:nvPr/>
        </p:nvSpPr>
        <p:spPr>
          <a:xfrm>
            <a:off x="9084564" y="59436"/>
            <a:ext cx="59436" cy="502462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6" name="Shape 4"/>
          <p:cNvSpPr/>
          <p:nvPr/>
        </p:nvSpPr>
        <p:spPr>
          <a:xfrm>
            <a:off x="109728" y="109728"/>
            <a:ext cx="8924544" cy="27432"/>
          </a:xfrm>
          <a:prstGeom prst="rect">
            <a:avLst/>
          </a:prstGeom>
          <a:solidFill>
            <a:srgbClr val="C9A84C">
              <a:alpha val="45000"/>
            </a:srgbClr>
          </a:solidFill>
        </p:spPr>
      </p:sp>
      <p:sp>
        <p:nvSpPr>
          <p:cNvPr id="7" name="Shape 5"/>
          <p:cNvSpPr/>
          <p:nvPr/>
        </p:nvSpPr>
        <p:spPr>
          <a:xfrm>
            <a:off x="109728" y="5006340"/>
            <a:ext cx="8924544" cy="27432"/>
          </a:xfrm>
          <a:prstGeom prst="rect">
            <a:avLst/>
          </a:prstGeom>
          <a:solidFill>
            <a:srgbClr val="C9A84C">
              <a:alpha val="4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365760" y="457200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8119872" y="457200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658368" y="457200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8412480" y="457200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950976" y="457200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8705088" y="457200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365760" y="749808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8119872" y="749808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658368" y="749808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8412480" y="749808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950976" y="749808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8705088" y="749808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365760" y="1042416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8119872" y="1042416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658368" y="1042416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8412480" y="1042416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950976" y="1042416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25" name="Shape 23"/>
          <p:cNvSpPr/>
          <p:nvPr/>
        </p:nvSpPr>
        <p:spPr>
          <a:xfrm>
            <a:off x="8705088" y="1042416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365760" y="1335024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8119872" y="1335024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658368" y="1335024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29" name="Shape 27"/>
          <p:cNvSpPr/>
          <p:nvPr/>
        </p:nvSpPr>
        <p:spPr>
          <a:xfrm>
            <a:off x="8412480" y="1335024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950976" y="1335024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8705088" y="1335024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32" name="Shape 30"/>
          <p:cNvSpPr/>
          <p:nvPr/>
        </p:nvSpPr>
        <p:spPr>
          <a:xfrm>
            <a:off x="365760" y="1627632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8119872" y="1627632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658368" y="1627632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35" name="Shape 33"/>
          <p:cNvSpPr/>
          <p:nvPr/>
        </p:nvSpPr>
        <p:spPr>
          <a:xfrm>
            <a:off x="8412480" y="1627632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950976" y="1627632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37" name="Shape 35"/>
          <p:cNvSpPr/>
          <p:nvPr/>
        </p:nvSpPr>
        <p:spPr>
          <a:xfrm>
            <a:off x="8705088" y="1627632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38" name="Shape 36"/>
          <p:cNvSpPr/>
          <p:nvPr/>
        </p:nvSpPr>
        <p:spPr>
          <a:xfrm>
            <a:off x="365760" y="1920240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8119872" y="1920240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40" name="Shape 38"/>
          <p:cNvSpPr/>
          <p:nvPr/>
        </p:nvSpPr>
        <p:spPr>
          <a:xfrm>
            <a:off x="658368" y="1920240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41" name="Shape 39"/>
          <p:cNvSpPr/>
          <p:nvPr/>
        </p:nvSpPr>
        <p:spPr>
          <a:xfrm>
            <a:off x="8412480" y="1920240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950976" y="1920240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43" name="Shape 41"/>
          <p:cNvSpPr/>
          <p:nvPr/>
        </p:nvSpPr>
        <p:spPr>
          <a:xfrm>
            <a:off x="8705088" y="1920240"/>
            <a:ext cx="73152" cy="73152"/>
          </a:xfrm>
          <a:prstGeom prst="ellipse">
            <a:avLst/>
          </a:prstGeom>
          <a:solidFill>
            <a:srgbClr val="C9A84C">
              <a:alpha val="30000"/>
            </a:srgbClr>
          </a:solidFill>
        </p:spPr>
      </p:sp>
      <p:sp>
        <p:nvSpPr>
          <p:cNvPr id="45" name="Shape 42"/>
          <p:cNvSpPr/>
          <p:nvPr/>
        </p:nvSpPr>
        <p:spPr>
          <a:xfrm>
            <a:off x="914400" y="1298448"/>
            <a:ext cx="7315200" cy="2148840"/>
          </a:xfrm>
          <a:prstGeom prst="rect">
            <a:avLst/>
          </a:prstGeom>
          <a:solidFill>
            <a:srgbClr val="122047"/>
          </a:solidFill>
          <a:effectLst>
            <a:outerShdw blurRad="203200" dist="76200" dir="8100000" algn="bl" rotWithShape="0">
              <a:srgbClr val="C9A84C">
                <a:alpha val="1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914400" y="1298448"/>
            <a:ext cx="7315200" cy="6400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7" name="Shape 44"/>
          <p:cNvSpPr/>
          <p:nvPr/>
        </p:nvSpPr>
        <p:spPr>
          <a:xfrm>
            <a:off x="914400" y="3383280"/>
            <a:ext cx="7315200" cy="64008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8" name="Shape 45"/>
          <p:cNvSpPr/>
          <p:nvPr/>
        </p:nvSpPr>
        <p:spPr>
          <a:xfrm>
            <a:off x="914400" y="1298448"/>
            <a:ext cx="64008" cy="2148840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49" name="Shape 46"/>
          <p:cNvSpPr/>
          <p:nvPr/>
        </p:nvSpPr>
        <p:spPr>
          <a:xfrm>
            <a:off x="8165592" y="1298448"/>
            <a:ext cx="64008" cy="2148840"/>
          </a:xfrm>
          <a:prstGeom prst="rect">
            <a:avLst/>
          </a:prstGeom>
          <a:solidFill>
            <a:srgbClr val="C9A84C"/>
          </a:solidFill>
        </p:spPr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481328"/>
            <a:ext cx="438912" cy="438912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1664208" y="1444752"/>
            <a:ext cx="6309360" cy="1298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« Tell me and I forget.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Teach me and I remember.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Involve me and I learn. »</a:t>
            </a:r>
            <a:endParaRPr lang="en-US" sz="2000" dirty="0"/>
          </a:p>
        </p:txBody>
      </p:sp>
      <p:sp>
        <p:nvSpPr>
          <p:cNvPr id="52" name="Text 48"/>
          <p:cNvSpPr/>
          <p:nvPr/>
        </p:nvSpPr>
        <p:spPr>
          <a:xfrm>
            <a:off x="5029200" y="2816352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i="1" dirty="0">
                <a:solidFill>
                  <a:srgbClr val="C9A84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Benjamin Franklin</a:t>
            </a:r>
            <a:endParaRPr lang="en-US" sz="1250" dirty="0"/>
          </a:p>
        </p:txBody>
      </p:sp>
      <p:sp>
        <p:nvSpPr>
          <p:cNvPr id="53" name="Text 49"/>
          <p:cNvSpPr/>
          <p:nvPr/>
        </p:nvSpPr>
        <p:spPr>
          <a:xfrm>
            <a:off x="914400" y="356616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Merci pour votre attention</a:t>
            </a:r>
            <a:endParaRPr lang="en-US" sz="3400" dirty="0"/>
          </a:p>
        </p:txBody>
      </p:sp>
      <p:sp>
        <p:nvSpPr>
          <p:cNvPr id="54" name="Shape 50"/>
          <p:cNvSpPr/>
          <p:nvPr/>
        </p:nvSpPr>
        <p:spPr>
          <a:xfrm>
            <a:off x="2926080" y="4315968"/>
            <a:ext cx="3291840" cy="50292"/>
          </a:xfrm>
          <a:prstGeom prst="rect">
            <a:avLst/>
          </a:prstGeom>
          <a:solidFill>
            <a:srgbClr val="C9A84C"/>
          </a:solidFill>
        </p:spPr>
      </p:sp>
      <p:sp>
        <p:nvSpPr>
          <p:cNvPr id="55" name="Text 51"/>
          <p:cNvSpPr/>
          <p:nvPr/>
        </p:nvSpPr>
        <p:spPr>
          <a:xfrm>
            <a:off x="1371600" y="4425696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Manar BOUAMAR  &amp;  Amine ANDAME</a:t>
            </a:r>
            <a:endParaRPr lang="en-US" sz="1300" dirty="0"/>
          </a:p>
        </p:txBody>
      </p:sp>
      <p:sp>
        <p:nvSpPr>
          <p:cNvPr id="56" name="Text 52"/>
          <p:cNvSpPr/>
          <p:nvPr/>
        </p:nvSpPr>
        <p:spPr>
          <a:xfrm>
            <a:off x="132080" y="4754880"/>
            <a:ext cx="377761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i="1" dirty="0">
                <a:solidFill>
                  <a:srgbClr val="8A9BB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ENSEM Casablanca  ·  GLD-1  ·  2025–2026</a:t>
            </a:r>
            <a:endParaRPr lang="en-US" sz="1050" b="1" dirty="0"/>
          </a:p>
        </p:txBody>
      </p:sp>
      <p:sp>
        <p:nvSpPr>
          <p:cNvPr id="57" name="Zone de texte 56"/>
          <p:cNvSpPr txBox="1"/>
          <p:nvPr/>
        </p:nvSpPr>
        <p:spPr>
          <a:xfrm>
            <a:off x="1894840" y="574040"/>
            <a:ext cx="51555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fr-FR" altLang="en-US" i="1" dirty="0">
                <a:solidFill>
                  <a:srgbClr val="E8C9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                                         </a:t>
            </a:r>
            <a:r>
              <a:rPr lang="fr-FR" altLang="en-US" sz="4000" b="1" i="1" dirty="0">
                <a:solidFill>
                  <a:srgbClr val="E8C97A"/>
                </a:solidFill>
                <a:latin typeface="Edwardian Script ITC" panose="030303020407070D0804" charset="0"/>
                <a:ea typeface="Calibri" panose="020F0502020204030204" pitchFamily="34" charset="-122"/>
                <a:cs typeface="Edwardian Script ITC" panose="030303020407070D0804" charset="0"/>
                <a:sym typeface="+mn-ea"/>
              </a:rPr>
              <a:t>   </a:t>
            </a:r>
            <a:r>
              <a:rPr lang="en-US" sz="4000" b="1" i="1" dirty="0">
                <a:solidFill>
                  <a:srgbClr val="E8C97A"/>
                </a:solidFill>
                <a:latin typeface="Edwardian Script ITC" panose="030303020407070D0804" charset="0"/>
                <a:ea typeface="Calibri" panose="020F0502020204030204" pitchFamily="34" charset="-122"/>
                <a:cs typeface="Edwardian Script ITC" panose="030303020407070D0804" charset="0"/>
                <a:sym typeface="+mn-ea"/>
              </a:rPr>
              <a:t>T</a:t>
            </a:r>
            <a:r>
              <a:rPr lang="fr-FR" altLang="en-US" sz="4000" b="1" i="1" dirty="0">
                <a:solidFill>
                  <a:srgbClr val="E8C97A"/>
                </a:solidFill>
                <a:latin typeface="Edwardian Script ITC" panose="030303020407070D0804" charset="0"/>
                <a:ea typeface="Calibri" panose="020F0502020204030204" pitchFamily="34" charset="-122"/>
                <a:cs typeface="Edwardian Script ITC" panose="030303020407070D0804" charset="0"/>
                <a:sym typeface="+mn-ea"/>
              </a:rPr>
              <a:t>he end </a:t>
            </a:r>
            <a:endParaRPr lang="fr-FR" altLang="en-US" sz="4000" b="1" i="1" dirty="0">
              <a:solidFill>
                <a:srgbClr val="E8C97A"/>
              </a:solidFill>
              <a:latin typeface="Edwardian Script ITC" panose="030303020407070D0804" charset="0"/>
              <a:ea typeface="Calibri" panose="020F0502020204030204" pitchFamily="34" charset="-122"/>
              <a:cs typeface="Edwardian Script ITC" panose="030303020407070D0804" charset="0"/>
              <a:sym typeface="+mn-ea"/>
            </a:endParaRPr>
          </a:p>
        </p:txBody>
      </p:sp>
      <p:sp>
        <p:nvSpPr>
          <p:cNvPr id="902" name="PagPill"/>
          <p:cNvSpPr>
            <a:spLocks noGrp="1"/>
          </p:cNvSpPr>
          <p:nvPr/>
        </p:nvSpPr>
        <p:spPr>
          <a:xfrm>
            <a:off x="3922000" y="4790636"/>
            <a:ext cx="1300000" cy="270000"/>
          </a:xfrm>
          <a:prstGeom prst="roundRect">
            <a:avLst>
              <a:gd name="adj" fmla="val 30000"/>
            </a:avLst>
          </a:prstGeom>
          <a:solidFill>
            <a:srgbClr val="0C1220"/>
          </a:solidFill>
          <a:ln w="19050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/>
            <a:r>
              <a:rPr lang="fr-FR" sz="1400" b="1" i="0" spc="200" dirty="0">
                <a:solidFill>
                  <a:srgbClr val="C9A84C"/>
                </a:solidFill>
                <a:latin typeface="Calibri" panose="020F0502020204030204"/>
              </a:rPr>
              <a:t>23  /  23</a:t>
            </a:r>
            <a:endParaRPr lang="fr-FR" sz="1400" b="1" i="0" spc="200" dirty="0">
              <a:solidFill>
                <a:srgbClr val="C9A84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12935</Words>
  <Application>WPS Presentation</Application>
  <PresentationFormat>On-screen Show (16:9)</PresentationFormat>
  <Paragraphs>842</Paragraphs>
  <Slides>23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9" baseType="lpstr">
      <vt:lpstr>Arial</vt:lpstr>
      <vt:lpstr>SimSun</vt:lpstr>
      <vt:lpstr>Wingdings</vt:lpstr>
      <vt:lpstr>Calibri</vt:lpstr>
      <vt:lpstr>Calibri</vt:lpstr>
      <vt:lpstr>Calibri</vt:lpstr>
      <vt:lpstr>Calibri</vt:lpstr>
      <vt:lpstr>Consolas</vt:lpstr>
      <vt:lpstr>Consolas</vt:lpstr>
      <vt:lpstr>Consolas</vt:lpstr>
      <vt:lpstr>Arial</vt:lpstr>
      <vt:lpstr>Microsoft YaHei</vt:lpstr>
      <vt:lpstr>Arial Unicode MS</vt:lpstr>
      <vt:lpstr>Edwardian Script ITC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de Systèmes d'Exploitation — ENSEM</dc:title>
  <dc:creator>PptxGenJS</dc:creator>
  <dc:subject>PptxGenJS Presentation</dc:subject>
  <cp:lastModifiedBy>Manar Student</cp:lastModifiedBy>
  <cp:revision>4</cp:revision>
  <dcterms:created xsi:type="dcterms:W3CDTF">2026-05-06T14:27:00Z</dcterms:created>
  <dcterms:modified xsi:type="dcterms:W3CDTF">2026-05-06T19:30:53Z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1036-12.1.0.25242</vt:lpwstr>
  </property>
  <property fmtid="{D5CDD505-2E9C-101B-9397-08002B2CF9AE}" pid="3" name="ICV">
    <vt:lpwstr>DE6ED85ABF634811ABEE62B8047998CA_13</vt:lpwstr>
  </property>
</Properties>
</file>